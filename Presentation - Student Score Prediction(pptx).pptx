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Nyutro Sans" panose="020B0604020202020204" charset="0"/>
      <p:regular r:id="rId14"/>
    </p:embeddedFont>
    <p:embeddedFont>
      <p:font typeface="Nyutro Sans Bold" panose="020B0604020202020204" charset="0"/>
      <p:regular r:id="rId15"/>
    </p:embeddedFont>
    <p:embeddedFont>
      <p:font typeface="Nyutro Sans Heavy" panose="020B0604020202020204" charset="0"/>
      <p:regular r:id="rId16"/>
    </p:embeddedFont>
    <p:embeddedFont>
      <p:font typeface="Public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sv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666750"/>
            <a:ext cx="6886575" cy="10283443"/>
            <a:chOff x="0" y="0"/>
            <a:chExt cx="1863593" cy="2782828"/>
          </a:xfrm>
        </p:grpSpPr>
        <p:sp>
          <p:nvSpPr>
            <p:cNvPr id="3" name="Freeform 3"/>
            <p:cNvSpPr/>
            <p:nvPr/>
          </p:nvSpPr>
          <p:spPr>
            <a:xfrm>
              <a:off x="0" y="0"/>
              <a:ext cx="1863594" cy="2782841"/>
            </a:xfrm>
            <a:custGeom>
              <a:avLst/>
              <a:gdLst/>
              <a:ahLst/>
              <a:cxnLst/>
              <a:rect l="l" t="t" r="r" b="b"/>
              <a:pathLst>
                <a:path w="1863594" h="2782841">
                  <a:moveTo>
                    <a:pt x="1376152" y="0"/>
                  </a:moveTo>
                  <a:lnTo>
                    <a:pt x="177673" y="0"/>
                  </a:lnTo>
                  <a:cubicBezTo>
                    <a:pt x="79547" y="0"/>
                    <a:pt x="0" y="79547"/>
                    <a:pt x="0" y="177673"/>
                  </a:cubicBezTo>
                  <a:lnTo>
                    <a:pt x="0" y="2605167"/>
                  </a:lnTo>
                  <a:cubicBezTo>
                    <a:pt x="0" y="2703293"/>
                    <a:pt x="79547" y="2782840"/>
                    <a:pt x="177673" y="2782840"/>
                  </a:cubicBezTo>
                  <a:lnTo>
                    <a:pt x="1685921" y="2782840"/>
                  </a:lnTo>
                  <a:cubicBezTo>
                    <a:pt x="1784047" y="2782840"/>
                    <a:pt x="1863594" y="2703293"/>
                    <a:pt x="1863594" y="2605167"/>
                  </a:cubicBezTo>
                  <a:lnTo>
                    <a:pt x="1863594" y="523958"/>
                  </a:lnTo>
                  <a:cubicBezTo>
                    <a:pt x="1863594" y="480251"/>
                    <a:pt x="1847484" y="438079"/>
                    <a:pt x="1818345" y="405503"/>
                  </a:cubicBezTo>
                  <a:lnTo>
                    <a:pt x="1508568" y="59214"/>
                  </a:lnTo>
                  <a:cubicBezTo>
                    <a:pt x="1474864" y="21536"/>
                    <a:pt x="1426705" y="0"/>
                    <a:pt x="1376152" y="0"/>
                  </a:cubicBezTo>
                  <a:close/>
                </a:path>
              </a:pathLst>
            </a:custGeom>
            <a:blipFill>
              <a:blip r:embed="rId2"/>
              <a:stretch>
                <a:fillRect t="-162" b="-162"/>
              </a:stretch>
            </a:blipFill>
          </p:spPr>
        </p:sp>
      </p:grpSp>
      <p:grpSp>
        <p:nvGrpSpPr>
          <p:cNvPr id="4" name="Group 4"/>
          <p:cNvGrpSpPr/>
          <p:nvPr/>
        </p:nvGrpSpPr>
        <p:grpSpPr>
          <a:xfrm>
            <a:off x="666750" y="666750"/>
            <a:ext cx="9763125" cy="6725825"/>
            <a:chOff x="0" y="0"/>
            <a:chExt cx="13017500" cy="8967767"/>
          </a:xfrm>
        </p:grpSpPr>
        <p:sp>
          <p:nvSpPr>
            <p:cNvPr id="5" name="TextBox 5"/>
            <p:cNvSpPr txBox="1"/>
            <p:nvPr/>
          </p:nvSpPr>
          <p:spPr>
            <a:xfrm>
              <a:off x="0" y="-9525"/>
              <a:ext cx="13017500" cy="8137525"/>
            </a:xfrm>
            <a:prstGeom prst="rect">
              <a:avLst/>
            </a:prstGeom>
          </p:spPr>
          <p:txBody>
            <a:bodyPr lIns="0" tIns="0" rIns="0" bIns="0" rtlCol="0" anchor="t">
              <a:spAutoFit/>
            </a:bodyPr>
            <a:lstStyle/>
            <a:p>
              <a:pPr marL="0" lvl="0" indent="0" algn="l">
                <a:lnSpc>
                  <a:spcPts val="15000"/>
                </a:lnSpc>
              </a:pPr>
              <a:r>
                <a:rPr lang="en-US" sz="15000" b="1" spc="-150">
                  <a:solidFill>
                    <a:srgbClr val="F8F8F8"/>
                  </a:solidFill>
                  <a:latin typeface="Nyutro Sans Heavy"/>
                  <a:ea typeface="Nyutro Sans Heavy"/>
                  <a:cs typeface="Nyutro Sans Heavy"/>
                  <a:sym typeface="Nyutro Sans Heavy"/>
                </a:rPr>
                <a:t>Student Score Prediction</a:t>
              </a:r>
            </a:p>
          </p:txBody>
        </p:sp>
        <p:sp>
          <p:nvSpPr>
            <p:cNvPr id="6" name="TextBox 6"/>
            <p:cNvSpPr txBox="1"/>
            <p:nvPr/>
          </p:nvSpPr>
          <p:spPr>
            <a:xfrm>
              <a:off x="0" y="8234342"/>
              <a:ext cx="9182100" cy="733425"/>
            </a:xfrm>
            <a:prstGeom prst="rect">
              <a:avLst/>
            </a:prstGeom>
          </p:spPr>
          <p:txBody>
            <a:bodyPr lIns="0" tIns="0" rIns="0" bIns="0" rtlCol="0" anchor="t">
              <a:spAutoFit/>
            </a:bodyPr>
            <a:lstStyle/>
            <a:p>
              <a:pPr marL="0" lvl="0" indent="0" algn="l">
                <a:lnSpc>
                  <a:spcPts val="4200"/>
                </a:lnSpc>
              </a:pPr>
              <a:r>
                <a:rPr lang="en-US" sz="3000" spc="-60">
                  <a:solidFill>
                    <a:srgbClr val="F8F8F8"/>
                  </a:solidFill>
                  <a:latin typeface="Nyutro Sans"/>
                  <a:ea typeface="Nyutro Sans"/>
                  <a:cs typeface="Nyutro Sans"/>
                  <a:sym typeface="Nyutro Sans"/>
                </a:rPr>
                <a:t>Presented by [Rana Awad Abdel Aziz Saad]</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1371966" y="1810529"/>
            <a:ext cx="5149875" cy="5603463"/>
            <a:chOff x="0" y="0"/>
            <a:chExt cx="6866499" cy="7471284"/>
          </a:xfrm>
        </p:grpSpPr>
        <p:grpSp>
          <p:nvGrpSpPr>
            <p:cNvPr id="3" name="Group 3"/>
            <p:cNvGrpSpPr/>
            <p:nvPr/>
          </p:nvGrpSpPr>
          <p:grpSpPr>
            <a:xfrm>
              <a:off x="594277" y="2645584"/>
              <a:ext cx="4887910" cy="4825700"/>
              <a:chOff x="0" y="0"/>
              <a:chExt cx="5943728" cy="5868080"/>
            </a:xfrm>
          </p:grpSpPr>
          <p:sp>
            <p:nvSpPr>
              <p:cNvPr id="4" name="Freeform 4"/>
              <p:cNvSpPr/>
              <p:nvPr/>
            </p:nvSpPr>
            <p:spPr>
              <a:xfrm>
                <a:off x="0" y="0"/>
                <a:ext cx="5943727" cy="5868035"/>
              </a:xfrm>
              <a:custGeom>
                <a:avLst/>
                <a:gdLst/>
                <a:ahLst/>
                <a:cxnLst/>
                <a:rect l="l" t="t" r="r" b="b"/>
                <a:pathLst>
                  <a:path w="5943727" h="5868035">
                    <a:moveTo>
                      <a:pt x="0" y="0"/>
                    </a:moveTo>
                    <a:lnTo>
                      <a:pt x="5943727" y="0"/>
                    </a:lnTo>
                    <a:lnTo>
                      <a:pt x="5943727" y="5868035"/>
                    </a:lnTo>
                    <a:lnTo>
                      <a:pt x="0" y="5868035"/>
                    </a:lnTo>
                    <a:lnTo>
                      <a:pt x="0" y="0"/>
                    </a:lnTo>
                    <a:close/>
                  </a:path>
                </a:pathLst>
              </a:custGeom>
              <a:blipFill>
                <a:blip r:embed="rId2">
                  <a:alphaModFix amt="56999"/>
                </a:blip>
                <a:stretch>
                  <a:fillRect t="-11" b="-12"/>
                </a:stretch>
              </a:blipFill>
            </p:spPr>
          </p:sp>
        </p:grpSp>
        <p:sp>
          <p:nvSpPr>
            <p:cNvPr id="5" name="TextBox 5"/>
            <p:cNvSpPr txBox="1"/>
            <p:nvPr/>
          </p:nvSpPr>
          <p:spPr>
            <a:xfrm>
              <a:off x="1384312" y="-19050"/>
              <a:ext cx="5482187" cy="1175113"/>
            </a:xfrm>
            <a:prstGeom prst="rect">
              <a:avLst/>
            </a:prstGeom>
          </p:spPr>
          <p:txBody>
            <a:bodyPr lIns="0" tIns="0" rIns="0" bIns="0" rtlCol="0" anchor="t">
              <a:spAutoFit/>
            </a:bodyPr>
            <a:lstStyle/>
            <a:p>
              <a:pPr algn="l">
                <a:lnSpc>
                  <a:spcPts val="6907"/>
                </a:lnSpc>
              </a:pPr>
              <a:r>
                <a:rPr lang="en-US" sz="5755" b="1">
                  <a:solidFill>
                    <a:srgbClr val="FFFFFE"/>
                  </a:solidFill>
                  <a:latin typeface="Public Sans Bold"/>
                  <a:ea typeface="Public Sans Bold"/>
                  <a:cs typeface="Public Sans Bold"/>
                  <a:sym typeface="Public Sans Bold"/>
                </a:rPr>
                <a:t>Agenda</a:t>
              </a:r>
            </a:p>
          </p:txBody>
        </p:sp>
        <p:sp>
          <p:nvSpPr>
            <p:cNvPr id="6" name="TextBox 6"/>
            <p:cNvSpPr txBox="1"/>
            <p:nvPr/>
          </p:nvSpPr>
          <p:spPr>
            <a:xfrm>
              <a:off x="0" y="1235407"/>
              <a:ext cx="5482187" cy="449066"/>
            </a:xfrm>
            <a:prstGeom prst="rect">
              <a:avLst/>
            </a:prstGeom>
          </p:spPr>
          <p:txBody>
            <a:bodyPr lIns="0" tIns="0" rIns="0" bIns="0" rtlCol="0" anchor="t">
              <a:spAutoFit/>
            </a:bodyPr>
            <a:lstStyle/>
            <a:p>
              <a:pPr algn="ctr">
                <a:lnSpc>
                  <a:spcPts val="2836"/>
                </a:lnSpc>
              </a:pPr>
              <a:endParaRPr/>
            </a:p>
          </p:txBody>
        </p:sp>
      </p:grpSp>
      <p:grpSp>
        <p:nvGrpSpPr>
          <p:cNvPr id="7" name="Group 7"/>
          <p:cNvGrpSpPr/>
          <p:nvPr/>
        </p:nvGrpSpPr>
        <p:grpSpPr>
          <a:xfrm>
            <a:off x="10054614" y="700822"/>
            <a:ext cx="4991464" cy="7920613"/>
            <a:chOff x="-1" y="0"/>
            <a:chExt cx="6655284" cy="10560818"/>
          </a:xfrm>
        </p:grpSpPr>
        <p:sp>
          <p:nvSpPr>
            <p:cNvPr id="8" name="Freeform 8"/>
            <p:cNvSpPr/>
            <p:nvPr/>
          </p:nvSpPr>
          <p:spPr>
            <a:xfrm>
              <a:off x="0" y="0"/>
              <a:ext cx="6383250" cy="752958"/>
            </a:xfrm>
            <a:custGeom>
              <a:avLst/>
              <a:gdLst/>
              <a:ahLst/>
              <a:cxnLst/>
              <a:rect l="l" t="t" r="r" b="b"/>
              <a:pathLst>
                <a:path w="6383250" h="752958">
                  <a:moveTo>
                    <a:pt x="0" y="0"/>
                  </a:moveTo>
                  <a:lnTo>
                    <a:pt x="6383250" y="0"/>
                  </a:lnTo>
                  <a:lnTo>
                    <a:pt x="6383250" y="752958"/>
                  </a:lnTo>
                  <a:lnTo>
                    <a:pt x="0" y="752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0" y="0"/>
              <a:ext cx="1467981" cy="752958"/>
            </a:xfrm>
            <a:custGeom>
              <a:avLst/>
              <a:gdLst/>
              <a:ahLst/>
              <a:cxnLst/>
              <a:rect l="l" t="t" r="r" b="b"/>
              <a:pathLst>
                <a:path w="1467981" h="752958">
                  <a:moveTo>
                    <a:pt x="0" y="0"/>
                  </a:moveTo>
                  <a:lnTo>
                    <a:pt x="1467981" y="0"/>
                  </a:lnTo>
                  <a:lnTo>
                    <a:pt x="1467981" y="752958"/>
                  </a:lnTo>
                  <a:lnTo>
                    <a:pt x="0" y="752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607412" y="153597"/>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1</a:t>
              </a:r>
            </a:p>
          </p:txBody>
        </p:sp>
        <p:sp>
          <p:nvSpPr>
            <p:cNvPr id="11" name="TextBox 11"/>
            <p:cNvSpPr txBox="1"/>
            <p:nvPr/>
          </p:nvSpPr>
          <p:spPr>
            <a:xfrm>
              <a:off x="1834845" y="82922"/>
              <a:ext cx="4175943"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Project Overview</a:t>
              </a:r>
            </a:p>
          </p:txBody>
        </p:sp>
        <p:sp>
          <p:nvSpPr>
            <p:cNvPr id="12" name="Freeform 12"/>
            <p:cNvSpPr/>
            <p:nvPr/>
          </p:nvSpPr>
          <p:spPr>
            <a:xfrm>
              <a:off x="0" y="1254351"/>
              <a:ext cx="6383250" cy="752958"/>
            </a:xfrm>
            <a:custGeom>
              <a:avLst/>
              <a:gdLst/>
              <a:ahLst/>
              <a:cxnLst/>
              <a:rect l="l" t="t" r="r" b="b"/>
              <a:pathLst>
                <a:path w="6383250" h="752958">
                  <a:moveTo>
                    <a:pt x="0" y="0"/>
                  </a:moveTo>
                  <a:lnTo>
                    <a:pt x="6383250" y="0"/>
                  </a:lnTo>
                  <a:lnTo>
                    <a:pt x="6383250" y="752958"/>
                  </a:lnTo>
                  <a:lnTo>
                    <a:pt x="0" y="752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0" y="1254351"/>
              <a:ext cx="1467981" cy="752958"/>
            </a:xfrm>
            <a:custGeom>
              <a:avLst/>
              <a:gdLst/>
              <a:ahLst/>
              <a:cxnLst/>
              <a:rect l="l" t="t" r="r" b="b"/>
              <a:pathLst>
                <a:path w="1467981" h="752958">
                  <a:moveTo>
                    <a:pt x="0" y="0"/>
                  </a:moveTo>
                  <a:lnTo>
                    <a:pt x="1467981" y="0"/>
                  </a:lnTo>
                  <a:lnTo>
                    <a:pt x="1467981" y="752958"/>
                  </a:lnTo>
                  <a:lnTo>
                    <a:pt x="0" y="752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607412" y="1407948"/>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2</a:t>
              </a:r>
            </a:p>
          </p:txBody>
        </p:sp>
        <p:sp>
          <p:nvSpPr>
            <p:cNvPr id="15" name="TextBox 15"/>
            <p:cNvSpPr txBox="1"/>
            <p:nvPr/>
          </p:nvSpPr>
          <p:spPr>
            <a:xfrm>
              <a:off x="1834845" y="1332631"/>
              <a:ext cx="4175943"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Dataset Overview </a:t>
              </a:r>
            </a:p>
          </p:txBody>
        </p:sp>
        <p:sp>
          <p:nvSpPr>
            <p:cNvPr id="16" name="Freeform 16"/>
            <p:cNvSpPr/>
            <p:nvPr/>
          </p:nvSpPr>
          <p:spPr>
            <a:xfrm>
              <a:off x="0" y="2508701"/>
              <a:ext cx="6383249" cy="752957"/>
            </a:xfrm>
            <a:custGeom>
              <a:avLst/>
              <a:gdLst/>
              <a:ahLst/>
              <a:cxnLst/>
              <a:rect l="l" t="t" r="r" b="b"/>
              <a:pathLst>
                <a:path w="6383250" h="752958">
                  <a:moveTo>
                    <a:pt x="0" y="0"/>
                  </a:moveTo>
                  <a:lnTo>
                    <a:pt x="6383250" y="0"/>
                  </a:lnTo>
                  <a:lnTo>
                    <a:pt x="6383250" y="752958"/>
                  </a:lnTo>
                  <a:lnTo>
                    <a:pt x="0" y="7529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Freeform 17"/>
            <p:cNvSpPr/>
            <p:nvPr/>
          </p:nvSpPr>
          <p:spPr>
            <a:xfrm>
              <a:off x="0" y="2508701"/>
              <a:ext cx="1467981" cy="752958"/>
            </a:xfrm>
            <a:custGeom>
              <a:avLst/>
              <a:gdLst/>
              <a:ahLst/>
              <a:cxnLst/>
              <a:rect l="l" t="t" r="r" b="b"/>
              <a:pathLst>
                <a:path w="1467981" h="752958">
                  <a:moveTo>
                    <a:pt x="0" y="0"/>
                  </a:moveTo>
                  <a:lnTo>
                    <a:pt x="1467981" y="0"/>
                  </a:lnTo>
                  <a:lnTo>
                    <a:pt x="1467981" y="752958"/>
                  </a:lnTo>
                  <a:lnTo>
                    <a:pt x="0" y="752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607412" y="2662298"/>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3</a:t>
              </a:r>
            </a:p>
          </p:txBody>
        </p:sp>
        <p:sp>
          <p:nvSpPr>
            <p:cNvPr id="19" name="TextBox 19"/>
            <p:cNvSpPr txBox="1"/>
            <p:nvPr/>
          </p:nvSpPr>
          <p:spPr>
            <a:xfrm>
              <a:off x="1446509" y="2587019"/>
              <a:ext cx="4936740" cy="483637"/>
            </a:xfrm>
            <a:prstGeom prst="rect">
              <a:avLst/>
            </a:prstGeom>
          </p:spPr>
          <p:txBody>
            <a:bodyPr wrap="square"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     Data Processing</a:t>
              </a:r>
            </a:p>
          </p:txBody>
        </p:sp>
        <p:sp>
          <p:nvSpPr>
            <p:cNvPr id="20" name="Freeform 20"/>
            <p:cNvSpPr/>
            <p:nvPr/>
          </p:nvSpPr>
          <p:spPr>
            <a:xfrm>
              <a:off x="-1" y="3763052"/>
              <a:ext cx="6545960" cy="752957"/>
            </a:xfrm>
            <a:custGeom>
              <a:avLst/>
              <a:gdLst/>
              <a:ahLst/>
              <a:cxnLst/>
              <a:rect l="l" t="t" r="r" b="b"/>
              <a:pathLst>
                <a:path w="6383250" h="752958">
                  <a:moveTo>
                    <a:pt x="0" y="0"/>
                  </a:moveTo>
                  <a:lnTo>
                    <a:pt x="6383250" y="0"/>
                  </a:lnTo>
                  <a:lnTo>
                    <a:pt x="6383250" y="752959"/>
                  </a:lnTo>
                  <a:lnTo>
                    <a:pt x="0" y="7529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0" y="3763052"/>
              <a:ext cx="1467981" cy="752958"/>
            </a:xfrm>
            <a:custGeom>
              <a:avLst/>
              <a:gdLst/>
              <a:ahLst/>
              <a:cxnLst/>
              <a:rect l="l" t="t" r="r" b="b"/>
              <a:pathLst>
                <a:path w="1467981" h="752958">
                  <a:moveTo>
                    <a:pt x="0" y="0"/>
                  </a:moveTo>
                  <a:lnTo>
                    <a:pt x="1467981" y="0"/>
                  </a:lnTo>
                  <a:lnTo>
                    <a:pt x="1467981" y="752959"/>
                  </a:lnTo>
                  <a:lnTo>
                    <a:pt x="0" y="7529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TextBox 22"/>
            <p:cNvSpPr txBox="1"/>
            <p:nvPr/>
          </p:nvSpPr>
          <p:spPr>
            <a:xfrm>
              <a:off x="607412" y="3916649"/>
              <a:ext cx="253157" cy="340083"/>
            </a:xfrm>
            <a:prstGeom prst="rect">
              <a:avLst/>
            </a:prstGeom>
          </p:spPr>
          <p:txBody>
            <a:bodyPr lIns="0" tIns="0" rIns="0" bIns="0" rtlCol="0" anchor="t">
              <a:spAutoFit/>
            </a:bodyPr>
            <a:lstStyle/>
            <a:p>
              <a:pPr algn="ctr">
                <a:lnSpc>
                  <a:spcPts val="2100"/>
                </a:lnSpc>
              </a:pPr>
              <a:r>
                <a:rPr lang="en-US" sz="1500" b="1">
                  <a:solidFill>
                    <a:srgbClr val="0C5D9B"/>
                  </a:solidFill>
                  <a:latin typeface="Public Sans Bold"/>
                  <a:ea typeface="Public Sans Bold"/>
                  <a:cs typeface="Public Sans Bold"/>
                  <a:sym typeface="Public Sans Bold"/>
                </a:rPr>
                <a:t>4</a:t>
              </a:r>
            </a:p>
          </p:txBody>
        </p:sp>
        <p:sp>
          <p:nvSpPr>
            <p:cNvPr id="23" name="TextBox 23"/>
            <p:cNvSpPr txBox="1"/>
            <p:nvPr/>
          </p:nvSpPr>
          <p:spPr>
            <a:xfrm>
              <a:off x="1834845" y="3841332"/>
              <a:ext cx="4175943" cy="493464"/>
            </a:xfrm>
            <a:prstGeom prst="rect">
              <a:avLst/>
            </a:prstGeom>
          </p:spPr>
          <p:txBody>
            <a:bodyPr lIns="0" tIns="0" rIns="0" bIns="0" rtlCol="0" anchor="t">
              <a:spAutoFit/>
            </a:bodyPr>
            <a:lstStyle/>
            <a:p>
              <a:pPr algn="l">
                <a:lnSpc>
                  <a:spcPts val="3069"/>
                </a:lnSpc>
              </a:pPr>
              <a:r>
                <a:rPr lang="en-US" sz="2192" b="1">
                  <a:solidFill>
                    <a:srgbClr val="0C5D9B"/>
                  </a:solidFill>
                  <a:latin typeface="Public Sans Bold"/>
                  <a:ea typeface="Public Sans Bold"/>
                  <a:cs typeface="Public Sans Bold"/>
                  <a:sym typeface="Public Sans Bold"/>
                </a:rPr>
                <a:t>Model Training</a:t>
              </a:r>
            </a:p>
          </p:txBody>
        </p:sp>
        <p:sp>
          <p:nvSpPr>
            <p:cNvPr id="24" name="Freeform 24"/>
            <p:cNvSpPr/>
            <p:nvPr/>
          </p:nvSpPr>
          <p:spPr>
            <a:xfrm>
              <a:off x="0" y="4840835"/>
              <a:ext cx="6655283" cy="785047"/>
            </a:xfrm>
            <a:custGeom>
              <a:avLst/>
              <a:gdLst/>
              <a:ahLst/>
              <a:cxnLst/>
              <a:rect l="l" t="t" r="r" b="b"/>
              <a:pathLst>
                <a:path w="6655283" h="785047">
                  <a:moveTo>
                    <a:pt x="0" y="0"/>
                  </a:moveTo>
                  <a:lnTo>
                    <a:pt x="6655283" y="0"/>
                  </a:lnTo>
                  <a:lnTo>
                    <a:pt x="6655283" y="785047"/>
                  </a:lnTo>
                  <a:lnTo>
                    <a:pt x="0" y="7850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Freeform 25"/>
            <p:cNvSpPr/>
            <p:nvPr/>
          </p:nvSpPr>
          <p:spPr>
            <a:xfrm>
              <a:off x="0" y="4840835"/>
              <a:ext cx="1530542" cy="785047"/>
            </a:xfrm>
            <a:custGeom>
              <a:avLst/>
              <a:gdLst/>
              <a:ahLst/>
              <a:cxnLst/>
              <a:rect l="l" t="t" r="r" b="b"/>
              <a:pathLst>
                <a:path w="1530542" h="785047">
                  <a:moveTo>
                    <a:pt x="0" y="0"/>
                  </a:moveTo>
                  <a:lnTo>
                    <a:pt x="1530542" y="0"/>
                  </a:lnTo>
                  <a:lnTo>
                    <a:pt x="1530542" y="785047"/>
                  </a:lnTo>
                  <a:lnTo>
                    <a:pt x="0" y="7850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TextBox 26"/>
            <p:cNvSpPr txBox="1"/>
            <p:nvPr/>
          </p:nvSpPr>
          <p:spPr>
            <a:xfrm>
              <a:off x="633298" y="5004085"/>
              <a:ext cx="263946" cy="347065"/>
            </a:xfrm>
            <a:prstGeom prst="rect">
              <a:avLst/>
            </a:prstGeom>
          </p:spPr>
          <p:txBody>
            <a:bodyPr lIns="0" tIns="0" rIns="0" bIns="0" rtlCol="0" anchor="t">
              <a:spAutoFit/>
            </a:bodyPr>
            <a:lstStyle/>
            <a:p>
              <a:pPr algn="ctr">
                <a:lnSpc>
                  <a:spcPts val="2190"/>
                </a:lnSpc>
              </a:pPr>
              <a:r>
                <a:rPr lang="en-US" sz="1564" b="1">
                  <a:solidFill>
                    <a:srgbClr val="0C5D9B"/>
                  </a:solidFill>
                  <a:latin typeface="Public Sans Bold"/>
                  <a:ea typeface="Public Sans Bold"/>
                  <a:cs typeface="Public Sans Bold"/>
                  <a:sym typeface="Public Sans Bold"/>
                </a:rPr>
                <a:t>5</a:t>
              </a:r>
            </a:p>
          </p:txBody>
        </p:sp>
        <p:sp>
          <p:nvSpPr>
            <p:cNvPr id="27" name="TextBox 27"/>
            <p:cNvSpPr txBox="1"/>
            <p:nvPr/>
          </p:nvSpPr>
          <p:spPr>
            <a:xfrm>
              <a:off x="1913040" y="4929496"/>
              <a:ext cx="4353908" cy="490856"/>
            </a:xfrm>
            <a:prstGeom prst="rect">
              <a:avLst/>
            </a:prstGeom>
          </p:spPr>
          <p:txBody>
            <a:bodyPr lIns="0" tIns="0" rIns="0" bIns="0" rtlCol="0" anchor="t">
              <a:spAutoFit/>
            </a:bodyPr>
            <a:lstStyle/>
            <a:p>
              <a:pPr marL="0" lvl="0" indent="0" algn="l">
                <a:lnSpc>
                  <a:spcPts val="3069"/>
                </a:lnSpc>
                <a:spcBef>
                  <a:spcPct val="0"/>
                </a:spcBef>
              </a:pPr>
              <a:r>
                <a:rPr lang="en-US" sz="2192" b="1">
                  <a:solidFill>
                    <a:srgbClr val="0C5D9B"/>
                  </a:solidFill>
                  <a:latin typeface="Public Sans Bold"/>
                  <a:ea typeface="Public Sans Bold"/>
                  <a:cs typeface="Public Sans Bold"/>
                  <a:sym typeface="Public Sans Bold"/>
                </a:rPr>
                <a:t>Score</a:t>
              </a:r>
              <a:r>
                <a:rPr lang="en-US" sz="2192" b="1" u="none" strike="noStrike">
                  <a:solidFill>
                    <a:srgbClr val="0C5D9B"/>
                  </a:solidFill>
                  <a:latin typeface="Public Sans Bold"/>
                  <a:ea typeface="Public Sans Bold"/>
                  <a:cs typeface="Public Sans Bold"/>
                  <a:sym typeface="Public Sans Bold"/>
                </a:rPr>
                <a:t>Data Visualization </a:t>
              </a:r>
            </a:p>
          </p:txBody>
        </p:sp>
        <p:sp>
          <p:nvSpPr>
            <p:cNvPr id="28" name="Freeform 28"/>
            <p:cNvSpPr/>
            <p:nvPr/>
          </p:nvSpPr>
          <p:spPr>
            <a:xfrm>
              <a:off x="0" y="6148642"/>
              <a:ext cx="6655283" cy="785047"/>
            </a:xfrm>
            <a:custGeom>
              <a:avLst/>
              <a:gdLst/>
              <a:ahLst/>
              <a:cxnLst/>
              <a:rect l="l" t="t" r="r" b="b"/>
              <a:pathLst>
                <a:path w="6655283" h="785047">
                  <a:moveTo>
                    <a:pt x="0" y="0"/>
                  </a:moveTo>
                  <a:lnTo>
                    <a:pt x="6655283" y="0"/>
                  </a:lnTo>
                  <a:lnTo>
                    <a:pt x="6655283" y="785047"/>
                  </a:lnTo>
                  <a:lnTo>
                    <a:pt x="0" y="78504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Freeform 29"/>
            <p:cNvSpPr/>
            <p:nvPr/>
          </p:nvSpPr>
          <p:spPr>
            <a:xfrm>
              <a:off x="0" y="6148642"/>
              <a:ext cx="1530542" cy="785047"/>
            </a:xfrm>
            <a:custGeom>
              <a:avLst/>
              <a:gdLst/>
              <a:ahLst/>
              <a:cxnLst/>
              <a:rect l="l" t="t" r="r" b="b"/>
              <a:pathLst>
                <a:path w="1530542" h="785047">
                  <a:moveTo>
                    <a:pt x="0" y="0"/>
                  </a:moveTo>
                  <a:lnTo>
                    <a:pt x="1530542" y="0"/>
                  </a:lnTo>
                  <a:lnTo>
                    <a:pt x="1530542" y="785047"/>
                  </a:lnTo>
                  <a:lnTo>
                    <a:pt x="0" y="78504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0" name="TextBox 30"/>
            <p:cNvSpPr txBox="1"/>
            <p:nvPr/>
          </p:nvSpPr>
          <p:spPr>
            <a:xfrm>
              <a:off x="633298" y="6311892"/>
              <a:ext cx="263946" cy="347065"/>
            </a:xfrm>
            <a:prstGeom prst="rect">
              <a:avLst/>
            </a:prstGeom>
          </p:spPr>
          <p:txBody>
            <a:bodyPr lIns="0" tIns="0" rIns="0" bIns="0" rtlCol="0" anchor="t">
              <a:spAutoFit/>
            </a:bodyPr>
            <a:lstStyle/>
            <a:p>
              <a:pPr algn="ctr">
                <a:lnSpc>
                  <a:spcPts val="2190"/>
                </a:lnSpc>
              </a:pPr>
              <a:r>
                <a:rPr lang="en-US" sz="1564" b="1">
                  <a:solidFill>
                    <a:srgbClr val="0C5D9B"/>
                  </a:solidFill>
                  <a:latin typeface="Public Sans Bold"/>
                  <a:ea typeface="Public Sans Bold"/>
                  <a:cs typeface="Public Sans Bold"/>
                  <a:sym typeface="Public Sans Bold"/>
                </a:rPr>
                <a:t>6</a:t>
              </a:r>
            </a:p>
          </p:txBody>
        </p:sp>
        <p:sp>
          <p:nvSpPr>
            <p:cNvPr id="31" name="TextBox 31"/>
            <p:cNvSpPr txBox="1"/>
            <p:nvPr/>
          </p:nvSpPr>
          <p:spPr>
            <a:xfrm>
              <a:off x="1913040" y="6237303"/>
              <a:ext cx="4353908" cy="502772"/>
            </a:xfrm>
            <a:prstGeom prst="rect">
              <a:avLst/>
            </a:prstGeom>
          </p:spPr>
          <p:txBody>
            <a:bodyPr lIns="0" tIns="0" rIns="0" bIns="0" rtlCol="0" anchor="t">
              <a:spAutoFit/>
            </a:bodyPr>
            <a:lstStyle/>
            <a:p>
              <a:pPr algn="l">
                <a:lnSpc>
                  <a:spcPts val="3070"/>
                </a:lnSpc>
              </a:pPr>
              <a:r>
                <a:rPr lang="en-US" sz="2193" b="1">
                  <a:solidFill>
                    <a:srgbClr val="0C5D9B"/>
                  </a:solidFill>
                  <a:latin typeface="Public Sans Bold"/>
                  <a:ea typeface="Public Sans Bold"/>
                  <a:cs typeface="Public Sans Bold"/>
                  <a:sym typeface="Public Sans Bold"/>
                </a:rPr>
                <a:t>Model Evaluation</a:t>
              </a:r>
            </a:p>
          </p:txBody>
        </p:sp>
        <p:sp>
          <p:nvSpPr>
            <p:cNvPr id="32" name="Freeform 32"/>
            <p:cNvSpPr/>
            <p:nvPr/>
          </p:nvSpPr>
          <p:spPr>
            <a:xfrm>
              <a:off x="0" y="7456448"/>
              <a:ext cx="6655283" cy="785047"/>
            </a:xfrm>
            <a:custGeom>
              <a:avLst/>
              <a:gdLst/>
              <a:ahLst/>
              <a:cxnLst/>
              <a:rect l="l" t="t" r="r" b="b"/>
              <a:pathLst>
                <a:path w="6655283" h="785047">
                  <a:moveTo>
                    <a:pt x="0" y="0"/>
                  </a:moveTo>
                  <a:lnTo>
                    <a:pt x="6655283" y="0"/>
                  </a:lnTo>
                  <a:lnTo>
                    <a:pt x="6655283" y="785048"/>
                  </a:lnTo>
                  <a:lnTo>
                    <a:pt x="0" y="7850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3" name="Freeform 33"/>
            <p:cNvSpPr/>
            <p:nvPr/>
          </p:nvSpPr>
          <p:spPr>
            <a:xfrm>
              <a:off x="0" y="7456448"/>
              <a:ext cx="1530542" cy="785047"/>
            </a:xfrm>
            <a:custGeom>
              <a:avLst/>
              <a:gdLst/>
              <a:ahLst/>
              <a:cxnLst/>
              <a:rect l="l" t="t" r="r" b="b"/>
              <a:pathLst>
                <a:path w="1530542" h="785047">
                  <a:moveTo>
                    <a:pt x="0" y="0"/>
                  </a:moveTo>
                  <a:lnTo>
                    <a:pt x="1530542" y="0"/>
                  </a:lnTo>
                  <a:lnTo>
                    <a:pt x="1530542" y="785048"/>
                  </a:lnTo>
                  <a:lnTo>
                    <a:pt x="0" y="7850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4" name="TextBox 34"/>
            <p:cNvSpPr txBox="1"/>
            <p:nvPr/>
          </p:nvSpPr>
          <p:spPr>
            <a:xfrm>
              <a:off x="633298" y="7619699"/>
              <a:ext cx="263946" cy="347065"/>
            </a:xfrm>
            <a:prstGeom prst="rect">
              <a:avLst/>
            </a:prstGeom>
          </p:spPr>
          <p:txBody>
            <a:bodyPr lIns="0" tIns="0" rIns="0" bIns="0" rtlCol="0" anchor="t">
              <a:spAutoFit/>
            </a:bodyPr>
            <a:lstStyle/>
            <a:p>
              <a:pPr algn="ctr">
                <a:lnSpc>
                  <a:spcPts val="2190"/>
                </a:lnSpc>
              </a:pPr>
              <a:r>
                <a:rPr lang="en-US" sz="1564" b="1">
                  <a:solidFill>
                    <a:srgbClr val="0C5D9B"/>
                  </a:solidFill>
                  <a:latin typeface="Public Sans Bold"/>
                  <a:ea typeface="Public Sans Bold"/>
                  <a:cs typeface="Public Sans Bold"/>
                  <a:sym typeface="Public Sans Bold"/>
                </a:rPr>
                <a:t>7</a:t>
              </a:r>
            </a:p>
          </p:txBody>
        </p:sp>
        <p:sp>
          <p:nvSpPr>
            <p:cNvPr id="35" name="TextBox 35"/>
            <p:cNvSpPr txBox="1"/>
            <p:nvPr/>
          </p:nvSpPr>
          <p:spPr>
            <a:xfrm>
              <a:off x="1913040" y="7545110"/>
              <a:ext cx="4353908" cy="502772"/>
            </a:xfrm>
            <a:prstGeom prst="rect">
              <a:avLst/>
            </a:prstGeom>
          </p:spPr>
          <p:txBody>
            <a:bodyPr lIns="0" tIns="0" rIns="0" bIns="0" rtlCol="0" anchor="t">
              <a:spAutoFit/>
            </a:bodyPr>
            <a:lstStyle/>
            <a:p>
              <a:pPr algn="l">
                <a:lnSpc>
                  <a:spcPts val="3070"/>
                </a:lnSpc>
              </a:pPr>
              <a:r>
                <a:rPr lang="en-US" sz="2193" b="1">
                  <a:solidFill>
                    <a:srgbClr val="0C5D9B"/>
                  </a:solidFill>
                  <a:latin typeface="Public Sans Bold"/>
                  <a:ea typeface="Public Sans Bold"/>
                  <a:cs typeface="Public Sans Bold"/>
                  <a:sym typeface="Public Sans Bold"/>
                </a:rPr>
                <a:t>Prediction</a:t>
              </a:r>
            </a:p>
          </p:txBody>
        </p:sp>
        <p:sp>
          <p:nvSpPr>
            <p:cNvPr id="36" name="Freeform 36"/>
            <p:cNvSpPr/>
            <p:nvPr/>
          </p:nvSpPr>
          <p:spPr>
            <a:xfrm>
              <a:off x="0" y="8502342"/>
              <a:ext cx="6655283" cy="772152"/>
            </a:xfrm>
            <a:custGeom>
              <a:avLst/>
              <a:gdLst/>
              <a:ahLst/>
              <a:cxnLst/>
              <a:rect l="l" t="t" r="r" b="b"/>
              <a:pathLst>
                <a:path w="6545960" h="772152">
                  <a:moveTo>
                    <a:pt x="0" y="0"/>
                  </a:moveTo>
                  <a:lnTo>
                    <a:pt x="6545960" y="0"/>
                  </a:lnTo>
                  <a:lnTo>
                    <a:pt x="6545960" y="772152"/>
                  </a:lnTo>
                  <a:lnTo>
                    <a:pt x="0" y="7721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7"/>
            <p:cNvSpPr/>
            <p:nvPr/>
          </p:nvSpPr>
          <p:spPr>
            <a:xfrm>
              <a:off x="0" y="8502342"/>
              <a:ext cx="1505400" cy="772152"/>
            </a:xfrm>
            <a:custGeom>
              <a:avLst/>
              <a:gdLst/>
              <a:ahLst/>
              <a:cxnLst/>
              <a:rect l="l" t="t" r="r" b="b"/>
              <a:pathLst>
                <a:path w="1505400" h="772152">
                  <a:moveTo>
                    <a:pt x="0" y="0"/>
                  </a:moveTo>
                  <a:lnTo>
                    <a:pt x="1505400" y="0"/>
                  </a:lnTo>
                  <a:lnTo>
                    <a:pt x="1505400" y="772152"/>
                  </a:lnTo>
                  <a:lnTo>
                    <a:pt x="0" y="77215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8" name="TextBox 38"/>
            <p:cNvSpPr txBox="1"/>
            <p:nvPr/>
          </p:nvSpPr>
          <p:spPr>
            <a:xfrm>
              <a:off x="622895" y="8662285"/>
              <a:ext cx="259610" cy="341990"/>
            </a:xfrm>
            <a:prstGeom prst="rect">
              <a:avLst/>
            </a:prstGeom>
          </p:spPr>
          <p:txBody>
            <a:bodyPr lIns="0" tIns="0" rIns="0" bIns="0" rtlCol="0" anchor="t">
              <a:spAutoFit/>
            </a:bodyPr>
            <a:lstStyle/>
            <a:p>
              <a:pPr algn="ctr">
                <a:lnSpc>
                  <a:spcPts val="2154"/>
                </a:lnSpc>
              </a:pPr>
              <a:r>
                <a:rPr lang="en-US" sz="1538" b="1">
                  <a:solidFill>
                    <a:srgbClr val="0C5D9B"/>
                  </a:solidFill>
                  <a:latin typeface="Public Sans Bold"/>
                  <a:ea typeface="Public Sans Bold"/>
                  <a:cs typeface="Public Sans Bold"/>
                  <a:sym typeface="Public Sans Bold"/>
                </a:rPr>
                <a:t>8</a:t>
              </a:r>
            </a:p>
          </p:txBody>
        </p:sp>
        <p:sp>
          <p:nvSpPr>
            <p:cNvPr id="39" name="TextBox 39"/>
            <p:cNvSpPr txBox="1"/>
            <p:nvPr/>
          </p:nvSpPr>
          <p:spPr>
            <a:xfrm>
              <a:off x="1881615" y="8588608"/>
              <a:ext cx="4282388" cy="495452"/>
            </a:xfrm>
            <a:prstGeom prst="rect">
              <a:avLst/>
            </a:prstGeom>
          </p:spPr>
          <p:txBody>
            <a:bodyPr lIns="0" tIns="0" rIns="0" bIns="0" rtlCol="0" anchor="t">
              <a:spAutoFit/>
            </a:bodyPr>
            <a:lstStyle/>
            <a:p>
              <a:pPr algn="l">
                <a:lnSpc>
                  <a:spcPts val="3019"/>
                </a:lnSpc>
              </a:pPr>
              <a:r>
                <a:rPr lang="en-US" sz="2156" b="1">
                  <a:solidFill>
                    <a:srgbClr val="0C5D9B"/>
                  </a:solidFill>
                  <a:latin typeface="Public Sans Bold"/>
                  <a:ea typeface="Public Sans Bold"/>
                  <a:cs typeface="Public Sans Bold"/>
                  <a:sym typeface="Public Sans Bold"/>
                </a:rPr>
                <a:t>Challenges </a:t>
              </a:r>
            </a:p>
          </p:txBody>
        </p:sp>
        <p:sp>
          <p:nvSpPr>
            <p:cNvPr id="40" name="Freeform 40"/>
            <p:cNvSpPr/>
            <p:nvPr/>
          </p:nvSpPr>
          <p:spPr>
            <a:xfrm>
              <a:off x="0" y="9788666"/>
              <a:ext cx="6655283" cy="772152"/>
            </a:xfrm>
            <a:custGeom>
              <a:avLst/>
              <a:gdLst/>
              <a:ahLst/>
              <a:cxnLst/>
              <a:rect l="l" t="t" r="r" b="b"/>
              <a:pathLst>
                <a:path w="6545960" h="772152">
                  <a:moveTo>
                    <a:pt x="0" y="0"/>
                  </a:moveTo>
                  <a:lnTo>
                    <a:pt x="6545960" y="0"/>
                  </a:lnTo>
                  <a:lnTo>
                    <a:pt x="6545960" y="772152"/>
                  </a:lnTo>
                  <a:lnTo>
                    <a:pt x="0" y="7721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1" name="Freeform 41"/>
            <p:cNvSpPr/>
            <p:nvPr/>
          </p:nvSpPr>
          <p:spPr>
            <a:xfrm>
              <a:off x="0" y="9788666"/>
              <a:ext cx="1505400" cy="772152"/>
            </a:xfrm>
            <a:custGeom>
              <a:avLst/>
              <a:gdLst/>
              <a:ahLst/>
              <a:cxnLst/>
              <a:rect l="l" t="t" r="r" b="b"/>
              <a:pathLst>
                <a:path w="1505400" h="772152">
                  <a:moveTo>
                    <a:pt x="0" y="0"/>
                  </a:moveTo>
                  <a:lnTo>
                    <a:pt x="1505400" y="0"/>
                  </a:lnTo>
                  <a:lnTo>
                    <a:pt x="1505400" y="772152"/>
                  </a:lnTo>
                  <a:lnTo>
                    <a:pt x="0" y="77215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2" name="TextBox 42"/>
            <p:cNvSpPr txBox="1"/>
            <p:nvPr/>
          </p:nvSpPr>
          <p:spPr>
            <a:xfrm>
              <a:off x="622895" y="9948609"/>
              <a:ext cx="259610" cy="341990"/>
            </a:xfrm>
            <a:prstGeom prst="rect">
              <a:avLst/>
            </a:prstGeom>
          </p:spPr>
          <p:txBody>
            <a:bodyPr lIns="0" tIns="0" rIns="0" bIns="0" rtlCol="0" anchor="t">
              <a:spAutoFit/>
            </a:bodyPr>
            <a:lstStyle/>
            <a:p>
              <a:pPr algn="ctr">
                <a:lnSpc>
                  <a:spcPts val="2154"/>
                </a:lnSpc>
              </a:pPr>
              <a:r>
                <a:rPr lang="en-US" sz="1538" b="1">
                  <a:solidFill>
                    <a:srgbClr val="0C5D9B"/>
                  </a:solidFill>
                  <a:latin typeface="Public Sans Bold"/>
                  <a:ea typeface="Public Sans Bold"/>
                  <a:cs typeface="Public Sans Bold"/>
                  <a:sym typeface="Public Sans Bold"/>
                </a:rPr>
                <a:t>9</a:t>
              </a:r>
            </a:p>
          </p:txBody>
        </p:sp>
        <p:sp>
          <p:nvSpPr>
            <p:cNvPr id="43" name="TextBox 43"/>
            <p:cNvSpPr txBox="1"/>
            <p:nvPr/>
          </p:nvSpPr>
          <p:spPr>
            <a:xfrm>
              <a:off x="1881615" y="9874932"/>
              <a:ext cx="4282388" cy="495452"/>
            </a:xfrm>
            <a:prstGeom prst="rect">
              <a:avLst/>
            </a:prstGeom>
          </p:spPr>
          <p:txBody>
            <a:bodyPr lIns="0" tIns="0" rIns="0" bIns="0" rtlCol="0" anchor="t">
              <a:spAutoFit/>
            </a:bodyPr>
            <a:lstStyle/>
            <a:p>
              <a:pPr algn="l">
                <a:lnSpc>
                  <a:spcPts val="3019"/>
                </a:lnSpc>
              </a:pPr>
              <a:r>
                <a:rPr lang="en-US" sz="2156" b="1">
                  <a:solidFill>
                    <a:srgbClr val="0C5D9B"/>
                  </a:solidFill>
                  <a:latin typeface="Public Sans Bold"/>
                  <a:ea typeface="Public Sans Bold"/>
                  <a:cs typeface="Public Sans Bold"/>
                  <a:sym typeface="Public Sans Bold"/>
                </a:rPr>
                <a:t>Conclusion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3697946" y="5052197"/>
            <a:ext cx="7489399" cy="1900224"/>
          </a:xfrm>
          <a:custGeom>
            <a:avLst/>
            <a:gdLst/>
            <a:ahLst/>
            <a:cxnLst/>
            <a:rect l="l" t="t" r="r" b="b"/>
            <a:pathLst>
              <a:path w="7489399" h="1900224">
                <a:moveTo>
                  <a:pt x="0" y="0"/>
                </a:moveTo>
                <a:lnTo>
                  <a:pt x="7489399" y="0"/>
                </a:lnTo>
                <a:lnTo>
                  <a:pt x="7489399" y="1900225"/>
                </a:lnTo>
                <a:lnTo>
                  <a:pt x="0" y="1900225"/>
                </a:lnTo>
                <a:lnTo>
                  <a:pt x="0" y="0"/>
                </a:lnTo>
                <a:close/>
              </a:path>
            </a:pathLst>
          </a:custGeom>
          <a:blipFill>
            <a:blip r:embed="rId2"/>
            <a:stretch>
              <a:fillRect t="-6692" r="-360" b="-2165"/>
            </a:stretch>
          </a:blipFill>
          <a:ln cap="sq">
            <a:noFill/>
            <a:prstDash val="solid"/>
            <a:miter/>
          </a:ln>
        </p:spPr>
      </p:sp>
      <p:sp>
        <p:nvSpPr>
          <p:cNvPr id="3" name="Freeform 3"/>
          <p:cNvSpPr/>
          <p:nvPr/>
        </p:nvSpPr>
        <p:spPr>
          <a:xfrm>
            <a:off x="3690572" y="7041152"/>
            <a:ext cx="10565605" cy="1223954"/>
          </a:xfrm>
          <a:custGeom>
            <a:avLst/>
            <a:gdLst/>
            <a:ahLst/>
            <a:cxnLst/>
            <a:rect l="l" t="t" r="r" b="b"/>
            <a:pathLst>
              <a:path w="10565605" h="1223954">
                <a:moveTo>
                  <a:pt x="0" y="0"/>
                </a:moveTo>
                <a:lnTo>
                  <a:pt x="10565605" y="0"/>
                </a:lnTo>
                <a:lnTo>
                  <a:pt x="10565605" y="1223955"/>
                </a:lnTo>
                <a:lnTo>
                  <a:pt x="0" y="1223955"/>
                </a:lnTo>
                <a:lnTo>
                  <a:pt x="0" y="0"/>
                </a:lnTo>
                <a:close/>
              </a:path>
            </a:pathLst>
          </a:custGeom>
          <a:blipFill>
            <a:blip r:embed="rId3"/>
            <a:stretch>
              <a:fillRect/>
            </a:stretch>
          </a:blipFill>
          <a:ln cap="sq">
            <a:noFill/>
            <a:prstDash val="solid"/>
            <a:miter/>
          </a:ln>
        </p:spPr>
      </p:sp>
      <p:sp>
        <p:nvSpPr>
          <p:cNvPr id="4" name="Freeform 4"/>
          <p:cNvSpPr/>
          <p:nvPr/>
        </p:nvSpPr>
        <p:spPr>
          <a:xfrm>
            <a:off x="3690572" y="8579865"/>
            <a:ext cx="10736231" cy="678435"/>
          </a:xfrm>
          <a:custGeom>
            <a:avLst/>
            <a:gdLst/>
            <a:ahLst/>
            <a:cxnLst/>
            <a:rect l="l" t="t" r="r" b="b"/>
            <a:pathLst>
              <a:path w="10736231" h="678435">
                <a:moveTo>
                  <a:pt x="0" y="0"/>
                </a:moveTo>
                <a:lnTo>
                  <a:pt x="10736231" y="0"/>
                </a:lnTo>
                <a:lnTo>
                  <a:pt x="10736231" y="678435"/>
                </a:lnTo>
                <a:lnTo>
                  <a:pt x="0" y="678435"/>
                </a:lnTo>
                <a:lnTo>
                  <a:pt x="0" y="0"/>
                </a:lnTo>
                <a:close/>
              </a:path>
            </a:pathLst>
          </a:custGeom>
          <a:blipFill>
            <a:blip r:embed="rId4"/>
            <a:stretch>
              <a:fillRect/>
            </a:stretch>
          </a:blipFill>
          <a:ln cap="sq">
            <a:noFill/>
            <a:prstDash val="solid"/>
            <a:miter/>
          </a:ln>
        </p:spPr>
      </p:sp>
      <p:grpSp>
        <p:nvGrpSpPr>
          <p:cNvPr id="5" name="Group 5"/>
          <p:cNvGrpSpPr/>
          <p:nvPr/>
        </p:nvGrpSpPr>
        <p:grpSpPr>
          <a:xfrm>
            <a:off x="666750" y="666750"/>
            <a:ext cx="9763125" cy="1377950"/>
            <a:chOff x="0" y="0"/>
            <a:chExt cx="13017500" cy="1837267"/>
          </a:xfrm>
        </p:grpSpPr>
        <p:sp>
          <p:nvSpPr>
            <p:cNvPr id="6" name="TextBox 6"/>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Project Overview</a:t>
              </a:r>
            </a:p>
          </p:txBody>
        </p:sp>
        <p:sp>
          <p:nvSpPr>
            <p:cNvPr id="7" name="TextBox 7"/>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grpSp>
        <p:nvGrpSpPr>
          <p:cNvPr id="8" name="Group 8"/>
          <p:cNvGrpSpPr/>
          <p:nvPr/>
        </p:nvGrpSpPr>
        <p:grpSpPr>
          <a:xfrm>
            <a:off x="695325" y="6038850"/>
            <a:ext cx="6858000" cy="1187413"/>
            <a:chOff x="0" y="0"/>
            <a:chExt cx="9144000" cy="1583217"/>
          </a:xfrm>
        </p:grpSpPr>
        <p:sp>
          <p:nvSpPr>
            <p:cNvPr id="9" name="TextBox 9"/>
            <p:cNvSpPr txBox="1"/>
            <p:nvPr/>
          </p:nvSpPr>
          <p:spPr>
            <a:xfrm>
              <a:off x="0" y="988434"/>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10" name="TextBox 10"/>
            <p:cNvSpPr txBox="1"/>
            <p:nvPr/>
          </p:nvSpPr>
          <p:spPr>
            <a:xfrm>
              <a:off x="0" y="-95250"/>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grpSp>
      <p:sp>
        <p:nvSpPr>
          <p:cNvPr id="11" name="TextBox 11"/>
          <p:cNvSpPr txBox="1"/>
          <p:nvPr/>
        </p:nvSpPr>
        <p:spPr>
          <a:xfrm>
            <a:off x="1255310" y="1863725"/>
            <a:ext cx="14515505" cy="2466408"/>
          </a:xfrm>
          <a:prstGeom prst="rect">
            <a:avLst/>
          </a:prstGeom>
        </p:spPr>
        <p:txBody>
          <a:bodyPr lIns="0" tIns="0" rIns="0" bIns="0" rtlCol="0" anchor="t">
            <a:spAutoFit/>
          </a:bodyPr>
          <a:lstStyle/>
          <a:p>
            <a:pPr marL="0" lvl="0" indent="0" algn="l">
              <a:lnSpc>
                <a:spcPts val="6331"/>
              </a:lnSpc>
              <a:spcBef>
                <a:spcPct val="0"/>
              </a:spcBef>
            </a:pPr>
            <a:r>
              <a:rPr lang="en-US" sz="4522" u="none" strike="noStrike">
                <a:solidFill>
                  <a:srgbClr val="F8F8F8"/>
                </a:solidFill>
                <a:latin typeface="Nyutro Sans"/>
                <a:ea typeface="Nyutro Sans"/>
                <a:cs typeface="Nyutro Sans"/>
                <a:sym typeface="Nyutro Sans"/>
              </a:rPr>
              <a:t>Goal</a:t>
            </a:r>
            <a:r>
              <a:rPr lang="en-US" sz="4522" u="none" strike="noStrike">
                <a:solidFill>
                  <a:srgbClr val="A0A0A0"/>
                </a:solidFill>
                <a:latin typeface="Nyutro Sans"/>
                <a:ea typeface="Nyutro Sans"/>
                <a:cs typeface="Nyutro Sans"/>
                <a:sym typeface="Nyutro Sans"/>
              </a:rPr>
              <a:t>: Predict student scores based on study hours.</a:t>
            </a:r>
          </a:p>
          <a:p>
            <a:pPr marL="0" lvl="0" indent="0" algn="l">
              <a:lnSpc>
                <a:spcPts val="6331"/>
              </a:lnSpc>
              <a:spcBef>
                <a:spcPct val="0"/>
              </a:spcBef>
            </a:pPr>
            <a:r>
              <a:rPr lang="en-US" sz="4522" u="none" strike="noStrike">
                <a:solidFill>
                  <a:srgbClr val="F8F8F8"/>
                </a:solidFill>
                <a:latin typeface="Nyutro Sans"/>
                <a:ea typeface="Nyutro Sans"/>
                <a:cs typeface="Nyutro Sans"/>
                <a:sym typeface="Nyutro Sans"/>
              </a:rPr>
              <a:t>Tools Used</a:t>
            </a:r>
            <a:r>
              <a:rPr lang="en-US" sz="4522" u="none" strike="noStrike">
                <a:solidFill>
                  <a:srgbClr val="A0A0A0"/>
                </a:solidFill>
                <a:latin typeface="Nyutro Sans"/>
                <a:ea typeface="Nyutro Sans"/>
                <a:cs typeface="Nyutro Sans"/>
                <a:sym typeface="Nyutro Sans"/>
              </a:rPr>
              <a:t>: Python, Pandas, NumPy, Matplotlib, Scikit-learn</a:t>
            </a:r>
          </a:p>
          <a:p>
            <a:pPr marL="0" lvl="0" indent="0" algn="l">
              <a:lnSpc>
                <a:spcPts val="6331"/>
              </a:lnSpc>
              <a:spcBef>
                <a:spcPct val="0"/>
              </a:spcBef>
            </a:pPr>
            <a:r>
              <a:rPr lang="en-US" sz="4522" u="none" strike="noStrike">
                <a:solidFill>
                  <a:srgbClr val="F8F8F8"/>
                </a:solidFill>
                <a:latin typeface="Nyutro Sans"/>
                <a:ea typeface="Nyutro Sans"/>
                <a:cs typeface="Nyutro Sans"/>
                <a:sym typeface="Nyutro Sans"/>
              </a:rPr>
              <a:t>Algorithm:</a:t>
            </a:r>
            <a:r>
              <a:rPr lang="en-US" sz="4522" u="none" strike="noStrike">
                <a:solidFill>
                  <a:srgbClr val="A0A0A0"/>
                </a:solidFill>
                <a:latin typeface="Nyutro Sans"/>
                <a:ea typeface="Nyutro Sans"/>
                <a:cs typeface="Nyutro Sans"/>
                <a:sym typeface="Nyutro Sans"/>
              </a:rPr>
              <a:t> Linear Regression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9920324" y="331449"/>
            <a:ext cx="8045386" cy="9955551"/>
          </a:xfrm>
          <a:custGeom>
            <a:avLst/>
            <a:gdLst/>
            <a:ahLst/>
            <a:cxnLst/>
            <a:rect l="l" t="t" r="r" b="b"/>
            <a:pathLst>
              <a:path w="8045386" h="9955551">
                <a:moveTo>
                  <a:pt x="0" y="0"/>
                </a:moveTo>
                <a:lnTo>
                  <a:pt x="8045385" y="0"/>
                </a:lnTo>
                <a:lnTo>
                  <a:pt x="8045385" y="9955551"/>
                </a:lnTo>
                <a:lnTo>
                  <a:pt x="0" y="9955551"/>
                </a:lnTo>
                <a:lnTo>
                  <a:pt x="0" y="0"/>
                </a:lnTo>
                <a:close/>
              </a:path>
            </a:pathLst>
          </a:custGeom>
          <a:blipFill>
            <a:blip r:embed="rId2"/>
            <a:stretch>
              <a:fillRect t="-12848" b="-8446"/>
            </a:stretch>
          </a:blipFill>
          <a:ln cap="sq">
            <a:noFill/>
            <a:prstDash val="solid"/>
            <a:miter/>
          </a:ln>
        </p:spPr>
      </p:sp>
      <p:grpSp>
        <p:nvGrpSpPr>
          <p:cNvPr id="3" name="Group 3"/>
          <p:cNvGrpSpPr/>
          <p:nvPr/>
        </p:nvGrpSpPr>
        <p:grpSpPr>
          <a:xfrm>
            <a:off x="666750" y="666750"/>
            <a:ext cx="8324850" cy="7705725"/>
            <a:chOff x="0" y="0"/>
            <a:chExt cx="11099800" cy="10274300"/>
          </a:xfrm>
        </p:grpSpPr>
        <p:sp>
          <p:nvSpPr>
            <p:cNvPr id="4" name="TextBox 4"/>
            <p:cNvSpPr txBox="1"/>
            <p:nvPr/>
          </p:nvSpPr>
          <p:spPr>
            <a:xfrm>
              <a:off x="0" y="1500717"/>
              <a:ext cx="11099800" cy="8773583"/>
            </a:xfrm>
            <a:prstGeom prst="rect">
              <a:avLst/>
            </a:prstGeom>
          </p:spPr>
          <p:txBody>
            <a:bodyPr lIns="0" tIns="0" rIns="0" bIns="0" rtlCol="0" anchor="t">
              <a:spAutoFit/>
            </a:bodyPr>
            <a:lstStyle/>
            <a:p>
              <a:pPr marL="0" lvl="0" indent="0" algn="l">
                <a:lnSpc>
                  <a:spcPts val="3499"/>
                </a:lnSpc>
              </a:pPr>
              <a:r>
                <a:rPr lang="en-US" sz="2499">
                  <a:solidFill>
                    <a:srgbClr val="F8F8F8"/>
                  </a:solidFill>
                  <a:latin typeface="Nyutro Sans"/>
                  <a:ea typeface="Nyutro Sans"/>
                  <a:cs typeface="Nyutro Sans"/>
                  <a:sym typeface="Nyutro Sans"/>
                </a:rPr>
                <a:t>The dataset for the Student Score Prediction Project consists of </a:t>
              </a:r>
              <a:r>
                <a:rPr lang="en-US" sz="2499" b="1">
                  <a:solidFill>
                    <a:srgbClr val="F8F8F8"/>
                  </a:solidFill>
                  <a:latin typeface="Nyutro Sans Bold"/>
                  <a:ea typeface="Nyutro Sans Bold"/>
                  <a:cs typeface="Nyutro Sans Bold"/>
                  <a:sym typeface="Nyutro Sans Bold"/>
                </a:rPr>
                <a:t>25 records</a:t>
              </a:r>
              <a:r>
                <a:rPr lang="en-US" sz="2499">
                  <a:solidFill>
                    <a:srgbClr val="F8F8F8"/>
                  </a:solidFill>
                  <a:latin typeface="Nyutro Sans"/>
                  <a:ea typeface="Nyutro Sans"/>
                  <a:cs typeface="Nyutro Sans"/>
                  <a:sym typeface="Nyutro Sans"/>
                </a:rPr>
                <a:t> detailing the relationship between study hours and exam scores. Each record contains two columns: one representing </a:t>
              </a:r>
              <a:r>
                <a:rPr lang="en-US" sz="2499" b="1">
                  <a:solidFill>
                    <a:srgbClr val="F8F8F8"/>
                  </a:solidFill>
                  <a:latin typeface="Nyutro Sans Bold"/>
                  <a:ea typeface="Nyutro Sans Bold"/>
                  <a:cs typeface="Nyutro Sans Bold"/>
                  <a:sym typeface="Nyutro Sans Bold"/>
                </a:rPr>
                <a:t>study hours</a:t>
              </a:r>
              <a:r>
                <a:rPr lang="en-US" sz="2499">
                  <a:solidFill>
                    <a:srgbClr val="F8F8F8"/>
                  </a:solidFill>
                  <a:latin typeface="Nyutro Sans"/>
                  <a:ea typeface="Nyutro Sans"/>
                  <a:cs typeface="Nyutro Sans"/>
                  <a:sym typeface="Nyutro Sans"/>
                </a:rPr>
                <a:t> and the other representing </a:t>
              </a:r>
              <a:r>
                <a:rPr lang="en-US" sz="2499" b="1">
                  <a:solidFill>
                    <a:srgbClr val="F8F8F8"/>
                  </a:solidFill>
                  <a:latin typeface="Nyutro Sans Bold"/>
                  <a:ea typeface="Nyutro Sans Bold"/>
                  <a:cs typeface="Nyutro Sans Bold"/>
                  <a:sym typeface="Nyutro Sans Bold"/>
                </a:rPr>
                <a:t>exam scores</a:t>
              </a:r>
              <a:r>
                <a:rPr lang="en-US" sz="2499">
                  <a:solidFill>
                    <a:srgbClr val="F8F8F8"/>
                  </a:solidFill>
                  <a:latin typeface="Nyutro Sans"/>
                  <a:ea typeface="Nyutro Sans"/>
                  <a:cs typeface="Nyutro Sans"/>
                  <a:sym typeface="Nyutro Sans"/>
                </a:rPr>
                <a:t>. Importantly, the dataset has no missing values, ensuring a complete analysis.</a:t>
              </a:r>
            </a:p>
            <a:p>
              <a:pPr marL="0" lvl="0" indent="0" algn="l">
                <a:lnSpc>
                  <a:spcPts val="3499"/>
                </a:lnSpc>
              </a:pPr>
              <a:r>
                <a:rPr lang="en-US" sz="2499">
                  <a:solidFill>
                    <a:srgbClr val="F8F8F8"/>
                  </a:solidFill>
                  <a:latin typeface="Nyutro Sans"/>
                  <a:ea typeface="Nyutro Sans"/>
                  <a:cs typeface="Nyutro Sans"/>
                  <a:sym typeface="Nyutro Sans"/>
                </a:rPr>
                <a:t>The mean study hours recorded is approximately </a:t>
              </a:r>
              <a:r>
                <a:rPr lang="en-US" sz="2499" b="1">
                  <a:solidFill>
                    <a:srgbClr val="F8F8F8"/>
                  </a:solidFill>
                  <a:latin typeface="Nyutro Sans Bold"/>
                  <a:ea typeface="Nyutro Sans Bold"/>
                  <a:cs typeface="Nyutro Sans Bold"/>
                  <a:sym typeface="Nyutro Sans Bold"/>
                </a:rPr>
                <a:t>5 hours</a:t>
              </a:r>
              <a:r>
                <a:rPr lang="en-US" sz="2499">
                  <a:solidFill>
                    <a:srgbClr val="F8F8F8"/>
                  </a:solidFill>
                  <a:latin typeface="Nyutro Sans"/>
                  <a:ea typeface="Nyutro Sans"/>
                  <a:cs typeface="Nyutro Sans"/>
                  <a:sym typeface="Nyutro Sans"/>
                </a:rPr>
                <a:t>, while the mean exam score is around </a:t>
              </a:r>
              <a:r>
                <a:rPr lang="en-US" sz="2499" b="1">
                  <a:solidFill>
                    <a:srgbClr val="F8F8F8"/>
                  </a:solidFill>
                  <a:latin typeface="Nyutro Sans Bold"/>
                  <a:ea typeface="Nyutro Sans Bold"/>
                  <a:cs typeface="Nyutro Sans Bold"/>
                  <a:sym typeface="Nyutro Sans Bold"/>
                </a:rPr>
                <a:t>51 points</a:t>
              </a:r>
              <a:r>
                <a:rPr lang="en-US" sz="2499">
                  <a:solidFill>
                    <a:srgbClr val="F8F8F8"/>
                  </a:solidFill>
                  <a:latin typeface="Nyutro Sans"/>
                  <a:ea typeface="Nyutro Sans"/>
                  <a:cs typeface="Nyutro Sans"/>
                  <a:sym typeface="Nyutro Sans"/>
                </a:rPr>
                <a:t>. This average indicates a moderate level of study time correlated with exam performance. The dataset provides a solid foundation for applying linear regression techniques, allowing us to explore how variations in study hours can predict student performance on exams. The next step involves preprocessing this data to visualize its characteristics effectively.</a:t>
              </a:r>
            </a:p>
          </p:txBody>
        </p:sp>
        <p:sp>
          <p:nvSpPr>
            <p:cNvPr id="5" name="TextBox 5"/>
            <p:cNvSpPr txBox="1"/>
            <p:nvPr/>
          </p:nvSpPr>
          <p:spPr>
            <a:xfrm>
              <a:off x="0" y="-200025"/>
              <a:ext cx="11099800" cy="1211792"/>
            </a:xfrm>
            <a:prstGeom prst="rect">
              <a:avLst/>
            </a:prstGeom>
          </p:spPr>
          <p:txBody>
            <a:bodyPr lIns="0" tIns="0" rIns="0" bIns="0" rtlCol="0" anchor="t">
              <a:spAutoFit/>
            </a:bodyPr>
            <a:lstStyle/>
            <a:p>
              <a:pPr marL="0" lvl="0" indent="0" algn="l">
                <a:lnSpc>
                  <a:spcPts val="7000"/>
                </a:lnSpc>
              </a:pPr>
              <a:r>
                <a:rPr lang="en-US" sz="5000" b="1" u="none" strike="noStrike">
                  <a:solidFill>
                    <a:srgbClr val="F8F8F8"/>
                  </a:solidFill>
                  <a:latin typeface="Nyutro Sans Bold"/>
                  <a:ea typeface="Nyutro Sans Bold"/>
                  <a:cs typeface="Nyutro Sans Bold"/>
                  <a:sym typeface="Nyutro Sans Bold"/>
                </a:rPr>
                <a:t>Overview of the dataset used</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4726685" cy="1882207"/>
            <a:chOff x="0" y="0"/>
            <a:chExt cx="19635580" cy="2509610"/>
          </a:xfrm>
        </p:grpSpPr>
        <p:sp>
          <p:nvSpPr>
            <p:cNvPr id="3" name="TextBox 3"/>
            <p:cNvSpPr txBox="1"/>
            <p:nvPr/>
          </p:nvSpPr>
          <p:spPr>
            <a:xfrm>
              <a:off x="0" y="1414992"/>
              <a:ext cx="19635580" cy="1094618"/>
            </a:xfrm>
            <a:prstGeom prst="rect">
              <a:avLst/>
            </a:prstGeom>
          </p:spPr>
          <p:txBody>
            <a:bodyPr lIns="0" tIns="0" rIns="0" bIns="0" rtlCol="0" anchor="t">
              <a:spAutoFit/>
            </a:bodyPr>
            <a:lstStyle/>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We checked for missing values — none were found</a:t>
              </a:r>
            </a:p>
          </p:txBody>
        </p:sp>
        <p:sp>
          <p:nvSpPr>
            <p:cNvPr id="4" name="TextBox 4"/>
            <p:cNvSpPr txBox="1"/>
            <p:nvPr/>
          </p:nvSpPr>
          <p:spPr>
            <a:xfrm>
              <a:off x="0" y="-200025"/>
              <a:ext cx="19635580" cy="1211792"/>
            </a:xfrm>
            <a:prstGeom prst="rect">
              <a:avLst/>
            </a:prstGeom>
          </p:spPr>
          <p:txBody>
            <a:bodyPr lIns="0" tIns="0" rIns="0" bIns="0" rtlCol="0" anchor="t">
              <a:spAutoFit/>
            </a:bodyPr>
            <a:lstStyle/>
            <a:p>
              <a:pPr marL="0" lvl="0" indent="0" algn="l">
                <a:lnSpc>
                  <a:spcPts val="7000"/>
                </a:lnSpc>
              </a:pPr>
              <a:r>
                <a:rPr lang="en-US" sz="5000" b="1">
                  <a:solidFill>
                    <a:srgbClr val="F8F8F8"/>
                  </a:solidFill>
                  <a:latin typeface="Nyutro Sans Bold"/>
                  <a:ea typeface="Nyutro Sans Bold"/>
                  <a:cs typeface="Nyutro Sans Bold"/>
                  <a:sym typeface="Nyutro Sans Bold"/>
                </a:rPr>
                <a:t>Data P</a:t>
              </a:r>
              <a:r>
                <a:rPr lang="en-US" sz="5000" b="1" u="none" strike="noStrike">
                  <a:solidFill>
                    <a:srgbClr val="F8F8F8"/>
                  </a:solidFill>
                  <a:latin typeface="Nyutro Sans Bold"/>
                  <a:ea typeface="Nyutro Sans Bold"/>
                  <a:cs typeface="Nyutro Sans Bold"/>
                  <a:sym typeface="Nyutro Sans Bold"/>
                </a:rPr>
                <a:t>rocessing</a:t>
              </a:r>
            </a:p>
          </p:txBody>
        </p:sp>
      </p:grpSp>
      <p:sp>
        <p:nvSpPr>
          <p:cNvPr id="5" name="Freeform 5"/>
          <p:cNvSpPr/>
          <p:nvPr/>
        </p:nvSpPr>
        <p:spPr>
          <a:xfrm>
            <a:off x="5863494" y="3209594"/>
            <a:ext cx="4961510" cy="867106"/>
          </a:xfrm>
          <a:custGeom>
            <a:avLst/>
            <a:gdLst/>
            <a:ahLst/>
            <a:cxnLst/>
            <a:rect l="l" t="t" r="r" b="b"/>
            <a:pathLst>
              <a:path w="4961510" h="867106">
                <a:moveTo>
                  <a:pt x="0" y="0"/>
                </a:moveTo>
                <a:lnTo>
                  <a:pt x="4961510" y="0"/>
                </a:lnTo>
                <a:lnTo>
                  <a:pt x="4961510" y="867106"/>
                </a:lnTo>
                <a:lnTo>
                  <a:pt x="0" y="867106"/>
                </a:lnTo>
                <a:lnTo>
                  <a:pt x="0" y="0"/>
                </a:lnTo>
                <a:close/>
              </a:path>
            </a:pathLst>
          </a:custGeom>
          <a:blipFill>
            <a:blip r:embed="rId2"/>
            <a:stretch>
              <a:fillRect l="-6229" t="-45756" r="-50896" b="-6033"/>
            </a:stretch>
          </a:blipFill>
          <a:ln cap="sq">
            <a:noFill/>
            <a:prstDash val="solid"/>
            <a:miter/>
          </a:ln>
        </p:spPr>
      </p:sp>
      <p:sp>
        <p:nvSpPr>
          <p:cNvPr id="6" name="TextBox 6"/>
          <p:cNvSpPr txBox="1"/>
          <p:nvPr/>
        </p:nvSpPr>
        <p:spPr>
          <a:xfrm>
            <a:off x="891210" y="4962525"/>
            <a:ext cx="11268195" cy="2466408"/>
          </a:xfrm>
          <a:prstGeom prst="rect">
            <a:avLst/>
          </a:prstGeom>
        </p:spPr>
        <p:txBody>
          <a:bodyPr lIns="0" tIns="0" rIns="0" bIns="0" rtlCol="0" anchor="t">
            <a:spAutoFit/>
          </a:bodyPr>
          <a:lstStyle/>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we split the data into:</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Training Set (80%) to train the model</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Testing Set (20%) to evaluate its accuracy</a:t>
            </a:r>
          </a:p>
        </p:txBody>
      </p:sp>
      <p:sp>
        <p:nvSpPr>
          <p:cNvPr id="7" name="Freeform 7"/>
          <p:cNvSpPr/>
          <p:nvPr/>
        </p:nvSpPr>
        <p:spPr>
          <a:xfrm>
            <a:off x="2963946" y="8470814"/>
            <a:ext cx="12360108" cy="787486"/>
          </a:xfrm>
          <a:custGeom>
            <a:avLst/>
            <a:gdLst/>
            <a:ahLst/>
            <a:cxnLst/>
            <a:rect l="l" t="t" r="r" b="b"/>
            <a:pathLst>
              <a:path w="12360108" h="787486">
                <a:moveTo>
                  <a:pt x="0" y="0"/>
                </a:moveTo>
                <a:lnTo>
                  <a:pt x="12360108" y="0"/>
                </a:lnTo>
                <a:lnTo>
                  <a:pt x="12360108" y="787486"/>
                </a:lnTo>
                <a:lnTo>
                  <a:pt x="0" y="787486"/>
                </a:lnTo>
                <a:lnTo>
                  <a:pt x="0" y="0"/>
                </a:lnTo>
                <a:close/>
              </a:path>
            </a:pathLst>
          </a:custGeom>
          <a:blipFill>
            <a:blip r:embed="rId3"/>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10711865" y="5285194"/>
            <a:ext cx="4547679" cy="1151413"/>
          </a:xfrm>
          <a:custGeom>
            <a:avLst/>
            <a:gdLst/>
            <a:ahLst/>
            <a:cxnLst/>
            <a:rect l="l" t="t" r="r" b="b"/>
            <a:pathLst>
              <a:path w="4547679" h="1151413">
                <a:moveTo>
                  <a:pt x="0" y="0"/>
                </a:moveTo>
                <a:lnTo>
                  <a:pt x="4547679" y="0"/>
                </a:lnTo>
                <a:lnTo>
                  <a:pt x="4547679" y="1151413"/>
                </a:lnTo>
                <a:lnTo>
                  <a:pt x="0" y="1151413"/>
                </a:lnTo>
                <a:lnTo>
                  <a:pt x="0" y="0"/>
                </a:lnTo>
                <a:close/>
              </a:path>
            </a:pathLst>
          </a:custGeom>
          <a:blipFill>
            <a:blip r:embed="rId2"/>
            <a:stretch>
              <a:fillRect t="-781" b="-781"/>
            </a:stretch>
          </a:blipFill>
        </p:spPr>
      </p:sp>
      <p:grpSp>
        <p:nvGrpSpPr>
          <p:cNvPr id="3" name="Group 3"/>
          <p:cNvGrpSpPr/>
          <p:nvPr/>
        </p:nvGrpSpPr>
        <p:grpSpPr>
          <a:xfrm>
            <a:off x="335621" y="2657475"/>
            <a:ext cx="16195849" cy="5711220"/>
            <a:chOff x="0" y="0"/>
            <a:chExt cx="21594465" cy="7614960"/>
          </a:xfrm>
        </p:grpSpPr>
        <p:sp>
          <p:nvSpPr>
            <p:cNvPr id="4" name="TextBox 4"/>
            <p:cNvSpPr txBox="1"/>
            <p:nvPr/>
          </p:nvSpPr>
          <p:spPr>
            <a:xfrm>
              <a:off x="0" y="7020177"/>
              <a:ext cx="21594465"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5" name="TextBox 5"/>
            <p:cNvSpPr txBox="1"/>
            <p:nvPr/>
          </p:nvSpPr>
          <p:spPr>
            <a:xfrm>
              <a:off x="0" y="-152400"/>
              <a:ext cx="21594465" cy="6683676"/>
            </a:xfrm>
            <a:prstGeom prst="rect">
              <a:avLst/>
            </a:prstGeom>
          </p:spPr>
          <p:txBody>
            <a:bodyPr lIns="0" tIns="0" rIns="0" bIns="0" rtlCol="0" anchor="t">
              <a:spAutoFit/>
            </a:bodyPr>
            <a:lstStyle/>
            <a:p>
              <a:pPr algn="l">
                <a:lnSpc>
                  <a:spcPts val="5631"/>
                </a:lnSpc>
              </a:pPr>
              <a:r>
                <a:rPr lang="en-US" sz="4022">
                  <a:solidFill>
                    <a:srgbClr val="A0A0A0"/>
                  </a:solidFill>
                  <a:latin typeface="Nyutro Sans"/>
                  <a:ea typeface="Nyutro Sans"/>
                  <a:cs typeface="Nyutro Sans"/>
                  <a:sym typeface="Nyutro Sans"/>
                </a:rPr>
                <a:t>   We used the </a:t>
              </a:r>
              <a:r>
                <a:rPr lang="en-US" sz="4022">
                  <a:solidFill>
                    <a:srgbClr val="FFFFFE"/>
                  </a:solidFill>
                  <a:latin typeface="Nyutro Sans"/>
                  <a:ea typeface="Nyutro Sans"/>
                  <a:cs typeface="Nyutro Sans"/>
                  <a:sym typeface="Nyutro Sans"/>
                </a:rPr>
                <a:t>Linear Regression </a:t>
              </a:r>
              <a:r>
                <a:rPr lang="en-US" sz="4022">
                  <a:solidFill>
                    <a:srgbClr val="A0A0A0"/>
                  </a:solidFill>
                  <a:latin typeface="Nyutro Sans"/>
                  <a:ea typeface="Nyutro Sans"/>
                  <a:cs typeface="Nyutro Sans"/>
                  <a:sym typeface="Nyutro Sans"/>
                </a:rPr>
                <a:t>model which </a:t>
              </a:r>
            </a:p>
            <a:p>
              <a:pPr marL="868426" lvl="1" indent="-434213" algn="l">
                <a:lnSpc>
                  <a:spcPts val="5631"/>
                </a:lnSpc>
                <a:buFont typeface="Arial"/>
                <a:buChar char="•"/>
              </a:pPr>
              <a:r>
                <a:rPr lang="en-US" sz="4022">
                  <a:solidFill>
                    <a:srgbClr val="A0A0A0"/>
                  </a:solidFill>
                  <a:latin typeface="Nyutro Sans"/>
                  <a:ea typeface="Nyutro Sans"/>
                  <a:cs typeface="Nyutro Sans"/>
                  <a:sym typeface="Nyutro Sans"/>
                </a:rPr>
                <a:t>learns the relationship between hours (input) and scores (output). </a:t>
              </a:r>
            </a:p>
            <a:p>
              <a:pPr marL="868426" lvl="1" indent="-434213" algn="l">
                <a:lnSpc>
                  <a:spcPts val="5631"/>
                </a:lnSpc>
                <a:buFont typeface="Arial"/>
                <a:buChar char="•"/>
              </a:pPr>
              <a:r>
                <a:rPr lang="en-US" sz="4022">
                  <a:solidFill>
                    <a:srgbClr val="A0A0A0"/>
                  </a:solidFill>
                  <a:latin typeface="Nyutro Sans"/>
                  <a:ea typeface="Nyutro Sans"/>
                  <a:cs typeface="Nyutro Sans"/>
                  <a:sym typeface="Nyutro Sans"/>
                </a:rPr>
                <a:t>finds a straight line (y = a*x + b) that best fits the data.</a:t>
              </a:r>
            </a:p>
            <a:p>
              <a:pPr algn="l">
                <a:lnSpc>
                  <a:spcPts val="5631"/>
                </a:lnSpc>
              </a:pPr>
              <a:r>
                <a:rPr lang="en-US" sz="4022">
                  <a:solidFill>
                    <a:srgbClr val="A0A0A0"/>
                  </a:solidFill>
                  <a:latin typeface="Nyutro Sans"/>
                  <a:ea typeface="Nyutro Sans"/>
                  <a:cs typeface="Nyutro Sans"/>
                  <a:sym typeface="Nyutro Sans"/>
                </a:rPr>
                <a:t>       Here,</a:t>
              </a:r>
            </a:p>
            <a:p>
              <a:pPr algn="l">
                <a:lnSpc>
                  <a:spcPts val="5631"/>
                </a:lnSpc>
              </a:pPr>
              <a:endParaRPr lang="en-US" sz="4022">
                <a:solidFill>
                  <a:srgbClr val="A0A0A0"/>
                </a:solidFill>
                <a:latin typeface="Nyutro Sans"/>
                <a:ea typeface="Nyutro Sans"/>
                <a:cs typeface="Nyutro Sans"/>
                <a:sym typeface="Nyutro Sans"/>
              </a:endParaRPr>
            </a:p>
            <a:p>
              <a:pPr algn="l">
                <a:lnSpc>
                  <a:spcPts val="5631"/>
                </a:lnSpc>
                <a:spcBef>
                  <a:spcPct val="0"/>
                </a:spcBef>
              </a:pPr>
              <a:r>
                <a:rPr lang="en-US" sz="4022" u="none" strike="noStrike">
                  <a:solidFill>
                    <a:srgbClr val="A0A0A0"/>
                  </a:solidFill>
                  <a:latin typeface="Nyutro Sans"/>
                  <a:ea typeface="Nyutro Sans"/>
                  <a:cs typeface="Nyutro Sans"/>
                  <a:sym typeface="Nyutro Sans"/>
                </a:rPr>
                <a:t> </a:t>
              </a:r>
            </a:p>
            <a:p>
              <a:pPr algn="l">
                <a:lnSpc>
                  <a:spcPts val="5631"/>
                </a:lnSpc>
                <a:spcBef>
                  <a:spcPct val="0"/>
                </a:spcBef>
              </a:pPr>
              <a:endParaRPr lang="en-US" sz="4022" u="none" strike="noStrike">
                <a:solidFill>
                  <a:srgbClr val="A0A0A0"/>
                </a:solidFill>
                <a:latin typeface="Nyutro Sans"/>
                <a:ea typeface="Nyutro Sans"/>
                <a:cs typeface="Nyutro Sans"/>
                <a:sym typeface="Nyutro Sans"/>
              </a:endParaRPr>
            </a:p>
          </p:txBody>
        </p:sp>
      </p:grpSp>
      <p:sp>
        <p:nvSpPr>
          <p:cNvPr id="6" name="Freeform 6"/>
          <p:cNvSpPr/>
          <p:nvPr/>
        </p:nvSpPr>
        <p:spPr>
          <a:xfrm>
            <a:off x="9992645" y="1183822"/>
            <a:ext cx="7266655" cy="956580"/>
          </a:xfrm>
          <a:custGeom>
            <a:avLst/>
            <a:gdLst/>
            <a:ahLst/>
            <a:cxnLst/>
            <a:rect l="l" t="t" r="r" b="b"/>
            <a:pathLst>
              <a:path w="7266655" h="956580">
                <a:moveTo>
                  <a:pt x="0" y="0"/>
                </a:moveTo>
                <a:lnTo>
                  <a:pt x="7266655" y="0"/>
                </a:lnTo>
                <a:lnTo>
                  <a:pt x="7266655" y="956581"/>
                </a:lnTo>
                <a:lnTo>
                  <a:pt x="0" y="956581"/>
                </a:lnTo>
                <a:lnTo>
                  <a:pt x="0" y="0"/>
                </a:lnTo>
                <a:close/>
              </a:path>
            </a:pathLst>
          </a:custGeom>
          <a:blipFill>
            <a:blip r:embed="rId3"/>
            <a:stretch>
              <a:fillRect/>
            </a:stretch>
          </a:blipFill>
          <a:ln cap="sq">
            <a:noFill/>
            <a:prstDash val="solid"/>
            <a:miter/>
          </a:ln>
        </p:spPr>
      </p:sp>
      <p:grpSp>
        <p:nvGrpSpPr>
          <p:cNvPr id="7" name="Group 7"/>
          <p:cNvGrpSpPr/>
          <p:nvPr/>
        </p:nvGrpSpPr>
        <p:grpSpPr>
          <a:xfrm>
            <a:off x="666750" y="666750"/>
            <a:ext cx="9763125" cy="1377950"/>
            <a:chOff x="0" y="0"/>
            <a:chExt cx="13017500" cy="1837267"/>
          </a:xfrm>
        </p:grpSpPr>
        <p:sp>
          <p:nvSpPr>
            <p:cNvPr id="8" name="TextBox 8"/>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Model Training</a:t>
              </a:r>
            </a:p>
          </p:txBody>
        </p:sp>
        <p:sp>
          <p:nvSpPr>
            <p:cNvPr id="9" name="TextBox 9"/>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sp>
        <p:nvSpPr>
          <p:cNvPr id="10" name="TextBox 10"/>
          <p:cNvSpPr txBox="1"/>
          <p:nvPr/>
        </p:nvSpPr>
        <p:spPr>
          <a:xfrm>
            <a:off x="1505611" y="5465322"/>
            <a:ext cx="4903025" cy="1847320"/>
          </a:xfrm>
          <a:prstGeom prst="rect">
            <a:avLst/>
          </a:prstGeom>
        </p:spPr>
        <p:txBody>
          <a:bodyPr lIns="0" tIns="0" rIns="0" bIns="0" rtlCol="0" anchor="t">
            <a:spAutoFit/>
          </a:bodyPr>
          <a:lstStyle/>
          <a:p>
            <a:pPr algn="l">
              <a:lnSpc>
                <a:spcPts val="3576"/>
              </a:lnSpc>
              <a:spcBef>
                <a:spcPct val="0"/>
              </a:spcBef>
            </a:pPr>
            <a:r>
              <a:rPr lang="en-US" sz="2554" u="none" strike="noStrike">
                <a:solidFill>
                  <a:srgbClr val="D9D9D9"/>
                </a:solidFill>
                <a:latin typeface="Nyutro Sans"/>
                <a:ea typeface="Nyutro Sans"/>
                <a:cs typeface="Nyutro Sans"/>
                <a:sym typeface="Nyutro Sans"/>
              </a:rPr>
              <a:t>x = Hours</a:t>
            </a:r>
          </a:p>
          <a:p>
            <a:pPr algn="l">
              <a:lnSpc>
                <a:spcPts val="3576"/>
              </a:lnSpc>
              <a:spcBef>
                <a:spcPct val="0"/>
              </a:spcBef>
            </a:pPr>
            <a:r>
              <a:rPr lang="en-US" sz="2554" u="none" strike="noStrike">
                <a:solidFill>
                  <a:srgbClr val="D9D9D9"/>
                </a:solidFill>
                <a:latin typeface="Nyutro Sans"/>
                <a:ea typeface="Nyutro Sans"/>
                <a:cs typeface="Nyutro Sans"/>
                <a:sym typeface="Nyutro Sans"/>
              </a:rPr>
              <a:t>y​ = predicted score</a:t>
            </a:r>
          </a:p>
          <a:p>
            <a:pPr algn="l">
              <a:lnSpc>
                <a:spcPts val="3576"/>
              </a:lnSpc>
              <a:spcBef>
                <a:spcPct val="0"/>
              </a:spcBef>
            </a:pPr>
            <a:r>
              <a:rPr lang="en-US" sz="2554" u="none" strike="noStrike">
                <a:solidFill>
                  <a:srgbClr val="D9D9D9"/>
                </a:solidFill>
                <a:latin typeface="Nyutro Sans"/>
                <a:ea typeface="Nyutro Sans"/>
                <a:cs typeface="Nyutro Sans"/>
                <a:sym typeface="Nyutro Sans"/>
              </a:rPr>
              <a:t>a = slope (coef)</a:t>
            </a:r>
          </a:p>
          <a:p>
            <a:pPr algn="l">
              <a:lnSpc>
                <a:spcPts val="3576"/>
              </a:lnSpc>
              <a:spcBef>
                <a:spcPct val="0"/>
              </a:spcBef>
            </a:pPr>
            <a:r>
              <a:rPr lang="en-US" sz="2554" u="none" strike="noStrike">
                <a:solidFill>
                  <a:srgbClr val="D9D9D9"/>
                </a:solidFill>
                <a:latin typeface="Nyutro Sans"/>
                <a:ea typeface="Nyutro Sans"/>
                <a:cs typeface="Nyutro Sans"/>
                <a:sym typeface="Nyutro Sans"/>
              </a:rPr>
              <a:t>b = intercept</a:t>
            </a:r>
          </a:p>
        </p:txBody>
      </p:sp>
      <p:sp>
        <p:nvSpPr>
          <p:cNvPr id="11" name="Freeform 11"/>
          <p:cNvSpPr/>
          <p:nvPr/>
        </p:nvSpPr>
        <p:spPr>
          <a:xfrm>
            <a:off x="9992645" y="6959437"/>
            <a:ext cx="6031190" cy="1114770"/>
          </a:xfrm>
          <a:custGeom>
            <a:avLst/>
            <a:gdLst/>
            <a:ahLst/>
            <a:cxnLst/>
            <a:rect l="l" t="t" r="r" b="b"/>
            <a:pathLst>
              <a:path w="6031190" h="1114770">
                <a:moveTo>
                  <a:pt x="0" y="0"/>
                </a:moveTo>
                <a:lnTo>
                  <a:pt x="6031190" y="0"/>
                </a:lnTo>
                <a:lnTo>
                  <a:pt x="6031190" y="1114770"/>
                </a:lnTo>
                <a:lnTo>
                  <a:pt x="0" y="1114770"/>
                </a:lnTo>
                <a:lnTo>
                  <a:pt x="0" y="0"/>
                </a:lnTo>
                <a:close/>
              </a:path>
            </a:pathLst>
          </a:custGeom>
          <a:blipFill>
            <a:blip r:embed="rId4"/>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sp>
        <p:nvSpPr>
          <p:cNvPr id="2" name="Freeform 2"/>
          <p:cNvSpPr/>
          <p:nvPr/>
        </p:nvSpPr>
        <p:spPr>
          <a:xfrm>
            <a:off x="7553325" y="1028700"/>
            <a:ext cx="10295621" cy="6648108"/>
          </a:xfrm>
          <a:custGeom>
            <a:avLst/>
            <a:gdLst/>
            <a:ahLst/>
            <a:cxnLst/>
            <a:rect l="l" t="t" r="r" b="b"/>
            <a:pathLst>
              <a:path w="10295621" h="6648108">
                <a:moveTo>
                  <a:pt x="0" y="0"/>
                </a:moveTo>
                <a:lnTo>
                  <a:pt x="10295621" y="0"/>
                </a:lnTo>
                <a:lnTo>
                  <a:pt x="10295621" y="6648108"/>
                </a:lnTo>
                <a:lnTo>
                  <a:pt x="0" y="6648108"/>
                </a:lnTo>
                <a:lnTo>
                  <a:pt x="0" y="0"/>
                </a:lnTo>
                <a:close/>
              </a:path>
            </a:pathLst>
          </a:custGeom>
          <a:blipFill>
            <a:blip r:embed="rId2"/>
            <a:stretch>
              <a:fillRect/>
            </a:stretch>
          </a:blipFill>
        </p:spPr>
      </p:sp>
      <p:grpSp>
        <p:nvGrpSpPr>
          <p:cNvPr id="3" name="Group 3"/>
          <p:cNvGrpSpPr/>
          <p:nvPr/>
        </p:nvGrpSpPr>
        <p:grpSpPr>
          <a:xfrm>
            <a:off x="666750" y="666750"/>
            <a:ext cx="6886575" cy="2702657"/>
            <a:chOff x="0" y="0"/>
            <a:chExt cx="9182100" cy="3603542"/>
          </a:xfrm>
        </p:grpSpPr>
        <p:sp>
          <p:nvSpPr>
            <p:cNvPr id="4" name="TextBox 4"/>
            <p:cNvSpPr txBox="1"/>
            <p:nvPr/>
          </p:nvSpPr>
          <p:spPr>
            <a:xfrm>
              <a:off x="0" y="-200025"/>
              <a:ext cx="9182100" cy="23928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Data Visualization of Scores</a:t>
              </a:r>
            </a:p>
          </p:txBody>
        </p:sp>
        <p:sp>
          <p:nvSpPr>
            <p:cNvPr id="5" name="TextBox 5"/>
            <p:cNvSpPr txBox="1"/>
            <p:nvPr/>
          </p:nvSpPr>
          <p:spPr>
            <a:xfrm>
              <a:off x="0" y="3008759"/>
              <a:ext cx="9182100" cy="594783"/>
            </a:xfrm>
            <a:prstGeom prst="rect">
              <a:avLst/>
            </a:prstGeom>
          </p:spPr>
          <p:txBody>
            <a:bodyPr lIns="0" tIns="0" rIns="0" bIns="0" rtlCol="0" anchor="t">
              <a:spAutoFit/>
            </a:bodyPr>
            <a:lstStyle/>
            <a:p>
              <a:pPr marL="0" lvl="0" indent="0" algn="l">
                <a:lnSpc>
                  <a:spcPts val="3499"/>
                </a:lnSpc>
              </a:pPr>
              <a:r>
                <a:rPr lang="en-US" sz="2499">
                  <a:solidFill>
                    <a:srgbClr val="F8F8F8"/>
                  </a:solidFill>
                  <a:latin typeface="Nyutro Sans"/>
                  <a:ea typeface="Nyutro Sans"/>
                  <a:cs typeface="Nyutro Sans"/>
                  <a:sym typeface="Nyutro Sans"/>
                </a:rPr>
                <a:t>This plot shows a </a:t>
              </a:r>
              <a:r>
                <a:rPr lang="en-US" sz="2499" b="1">
                  <a:solidFill>
                    <a:srgbClr val="F8F8F8"/>
                  </a:solidFill>
                  <a:latin typeface="Nyutro Sans Bold"/>
                  <a:ea typeface="Nyutro Sans Bold"/>
                  <a:cs typeface="Nyutro Sans Bold"/>
                  <a:sym typeface="Nyutro Sans Bold"/>
                </a:rPr>
                <a:t>strong positive correlation</a:t>
              </a:r>
              <a:r>
                <a:rPr lang="en-US" sz="2499">
                  <a:solidFill>
                    <a:srgbClr val="F8F8F8"/>
                  </a:solidFill>
                  <a:latin typeface="Nyutro Sans"/>
                  <a:ea typeface="Nyutro Sans"/>
                  <a:cs typeface="Nyutro Sans"/>
                  <a:sym typeface="Nyutro Sans"/>
                </a:rPr>
                <a:t>.</a:t>
              </a:r>
            </a:p>
          </p:txBody>
        </p:sp>
        <p:sp>
          <p:nvSpPr>
            <p:cNvPr id="6" name="TextBox 6"/>
            <p:cNvSpPr txBox="1"/>
            <p:nvPr/>
          </p:nvSpPr>
          <p:spPr>
            <a:xfrm>
              <a:off x="0" y="2329392"/>
              <a:ext cx="9182100" cy="676275"/>
            </a:xfrm>
            <a:prstGeom prst="rect">
              <a:avLst/>
            </a:prstGeom>
          </p:spPr>
          <p:txBody>
            <a:bodyPr lIns="0" tIns="0" rIns="0" bIns="0" rtlCol="0" anchor="t">
              <a:spAutoFit/>
            </a:bodyPr>
            <a:lstStyle/>
            <a:p>
              <a:pPr marL="0" lvl="0" indent="0" algn="l">
                <a:lnSpc>
                  <a:spcPts val="3600"/>
                </a:lnSpc>
              </a:pPr>
              <a:r>
                <a:rPr lang="en-US" sz="3000" b="1">
                  <a:solidFill>
                    <a:srgbClr val="F8F8F8"/>
                  </a:solidFill>
                  <a:latin typeface="Nyutro Sans Bold"/>
                  <a:ea typeface="Nyutro Sans Bold"/>
                  <a:cs typeface="Nyutro Sans Bold"/>
                  <a:sym typeface="Nyutro Sans Bold"/>
                </a:rPr>
                <a:t>Hours vs. Scores Scatter Plot</a:t>
              </a:r>
            </a:p>
          </p:txBody>
        </p:sp>
      </p:grpSp>
      <p:sp>
        <p:nvSpPr>
          <p:cNvPr id="7" name="TextBox 7"/>
          <p:cNvSpPr txBox="1"/>
          <p:nvPr/>
        </p:nvSpPr>
        <p:spPr>
          <a:xfrm>
            <a:off x="9991987" y="7959606"/>
            <a:ext cx="5418297" cy="1784350"/>
          </a:xfrm>
          <a:prstGeom prst="rect">
            <a:avLst/>
          </a:prstGeom>
        </p:spPr>
        <p:txBody>
          <a:bodyPr lIns="0" tIns="0" rIns="0" bIns="0" rtlCol="0" anchor="t">
            <a:spAutoFit/>
          </a:bodyPr>
          <a:lstStyle/>
          <a:p>
            <a:pPr algn="ctr">
              <a:lnSpc>
                <a:spcPts val="3499"/>
              </a:lnSpc>
              <a:spcBef>
                <a:spcPct val="0"/>
              </a:spcBef>
            </a:pPr>
            <a:endParaRPr/>
          </a:p>
          <a:p>
            <a:pPr algn="ctr">
              <a:lnSpc>
                <a:spcPts val="3499"/>
              </a:lnSpc>
              <a:spcBef>
                <a:spcPct val="0"/>
              </a:spcBef>
            </a:pPr>
            <a:r>
              <a:rPr lang="en-US" sz="2499">
                <a:solidFill>
                  <a:srgbClr val="F8F8F8"/>
                </a:solidFill>
                <a:latin typeface="Nyutro Sans"/>
                <a:ea typeface="Nyutro Sans"/>
                <a:cs typeface="Nyutro Sans"/>
                <a:sym typeface="Nyutro Sans"/>
              </a:rPr>
              <a:t>Blue = Real data</a:t>
            </a:r>
          </a:p>
          <a:p>
            <a:pPr algn="ctr">
              <a:lnSpc>
                <a:spcPts val="3499"/>
              </a:lnSpc>
              <a:spcBef>
                <a:spcPct val="0"/>
              </a:spcBef>
            </a:pPr>
            <a:r>
              <a:rPr lang="en-US" sz="2499">
                <a:solidFill>
                  <a:srgbClr val="F8F8F8"/>
                </a:solidFill>
                <a:latin typeface="Nyutro Sans"/>
                <a:ea typeface="Nyutro Sans"/>
                <a:cs typeface="Nyutro Sans"/>
                <a:sym typeface="Nyutro Sans"/>
              </a:rPr>
              <a:t>Red = Prediction line</a:t>
            </a:r>
          </a:p>
          <a:p>
            <a:pPr algn="ctr">
              <a:lnSpc>
                <a:spcPts val="3499"/>
              </a:lnSpc>
              <a:spcBef>
                <a:spcPct val="0"/>
              </a:spcBef>
            </a:pPr>
            <a:r>
              <a:rPr lang="en-US" sz="2499">
                <a:solidFill>
                  <a:srgbClr val="F8F8F8"/>
                </a:solidFill>
                <a:latin typeface="Nyutro Sans"/>
                <a:ea typeface="Nyutro Sans"/>
                <a:cs typeface="Nyutro Sans"/>
                <a:sym typeface="Nyutro Sans"/>
              </a:rPr>
              <a:t>Purple = New student entered manually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grpSp>
        <p:nvGrpSpPr>
          <p:cNvPr id="2" name="Group 2"/>
          <p:cNvGrpSpPr/>
          <p:nvPr/>
        </p:nvGrpSpPr>
        <p:grpSpPr>
          <a:xfrm>
            <a:off x="666750" y="5588143"/>
            <a:ext cx="5448300" cy="4317689"/>
            <a:chOff x="0" y="0"/>
            <a:chExt cx="1069758" cy="847766"/>
          </a:xfrm>
        </p:grpSpPr>
        <p:sp>
          <p:nvSpPr>
            <p:cNvPr id="3" name="Freeform 3"/>
            <p:cNvSpPr/>
            <p:nvPr/>
          </p:nvSpPr>
          <p:spPr>
            <a:xfrm>
              <a:off x="0" y="0"/>
              <a:ext cx="1069758" cy="847766"/>
            </a:xfrm>
            <a:custGeom>
              <a:avLst/>
              <a:gdLst/>
              <a:ahLst/>
              <a:cxnLst/>
              <a:rect l="l" t="t" r="r" b="b"/>
              <a:pathLst>
                <a:path w="1069758" h="847766">
                  <a:moveTo>
                    <a:pt x="35524" y="0"/>
                  </a:moveTo>
                  <a:lnTo>
                    <a:pt x="1034234" y="0"/>
                  </a:lnTo>
                  <a:cubicBezTo>
                    <a:pt x="1053853" y="0"/>
                    <a:pt x="1069758" y="15905"/>
                    <a:pt x="1069758" y="35524"/>
                  </a:cubicBezTo>
                  <a:lnTo>
                    <a:pt x="1069758" y="812241"/>
                  </a:lnTo>
                  <a:cubicBezTo>
                    <a:pt x="1069758" y="831861"/>
                    <a:pt x="1053853" y="847766"/>
                    <a:pt x="1034234" y="847766"/>
                  </a:cubicBezTo>
                  <a:lnTo>
                    <a:pt x="35524" y="847766"/>
                  </a:lnTo>
                  <a:cubicBezTo>
                    <a:pt x="15905" y="847766"/>
                    <a:pt x="0" y="831861"/>
                    <a:pt x="0" y="812241"/>
                  </a:cubicBezTo>
                  <a:lnTo>
                    <a:pt x="0" y="35524"/>
                  </a:lnTo>
                  <a:cubicBezTo>
                    <a:pt x="0" y="15905"/>
                    <a:pt x="15905" y="0"/>
                    <a:pt x="35524" y="0"/>
                  </a:cubicBezTo>
                  <a:close/>
                </a:path>
              </a:pathLst>
            </a:custGeom>
            <a:solidFill>
              <a:srgbClr val="BBBBBB"/>
            </a:solidFill>
            <a:ln cap="rnd">
              <a:noFill/>
              <a:prstDash val="solid"/>
              <a:round/>
            </a:ln>
          </p:spPr>
        </p:sp>
        <p:sp>
          <p:nvSpPr>
            <p:cNvPr id="4" name="TextBox 4"/>
            <p:cNvSpPr txBox="1"/>
            <p:nvPr/>
          </p:nvSpPr>
          <p:spPr>
            <a:xfrm>
              <a:off x="0" y="-9525"/>
              <a:ext cx="1069758" cy="857291"/>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5" name="Group 5"/>
          <p:cNvGrpSpPr/>
          <p:nvPr/>
        </p:nvGrpSpPr>
        <p:grpSpPr>
          <a:xfrm>
            <a:off x="6419850" y="5588143"/>
            <a:ext cx="5448300" cy="4317689"/>
            <a:chOff x="0" y="0"/>
            <a:chExt cx="1069758" cy="847766"/>
          </a:xfrm>
        </p:grpSpPr>
        <p:sp>
          <p:nvSpPr>
            <p:cNvPr id="6" name="Freeform 6"/>
            <p:cNvSpPr/>
            <p:nvPr/>
          </p:nvSpPr>
          <p:spPr>
            <a:xfrm>
              <a:off x="0" y="0"/>
              <a:ext cx="1069758" cy="847766"/>
            </a:xfrm>
            <a:custGeom>
              <a:avLst/>
              <a:gdLst/>
              <a:ahLst/>
              <a:cxnLst/>
              <a:rect l="l" t="t" r="r" b="b"/>
              <a:pathLst>
                <a:path w="1069758" h="847766">
                  <a:moveTo>
                    <a:pt x="35524" y="0"/>
                  </a:moveTo>
                  <a:lnTo>
                    <a:pt x="1034234" y="0"/>
                  </a:lnTo>
                  <a:cubicBezTo>
                    <a:pt x="1053853" y="0"/>
                    <a:pt x="1069758" y="15905"/>
                    <a:pt x="1069758" y="35524"/>
                  </a:cubicBezTo>
                  <a:lnTo>
                    <a:pt x="1069758" y="812241"/>
                  </a:lnTo>
                  <a:cubicBezTo>
                    <a:pt x="1069758" y="831861"/>
                    <a:pt x="1053853" y="847766"/>
                    <a:pt x="1034234" y="847766"/>
                  </a:cubicBezTo>
                  <a:lnTo>
                    <a:pt x="35524" y="847766"/>
                  </a:lnTo>
                  <a:cubicBezTo>
                    <a:pt x="15905" y="847766"/>
                    <a:pt x="0" y="831861"/>
                    <a:pt x="0" y="812241"/>
                  </a:cubicBezTo>
                  <a:lnTo>
                    <a:pt x="0" y="35524"/>
                  </a:lnTo>
                  <a:cubicBezTo>
                    <a:pt x="0" y="15905"/>
                    <a:pt x="15905" y="0"/>
                    <a:pt x="35524" y="0"/>
                  </a:cubicBezTo>
                  <a:close/>
                </a:path>
              </a:pathLst>
            </a:custGeom>
            <a:solidFill>
              <a:srgbClr val="BBBBBB"/>
            </a:solidFill>
            <a:ln cap="rnd">
              <a:noFill/>
              <a:prstDash val="solid"/>
              <a:round/>
            </a:ln>
          </p:spPr>
        </p:sp>
        <p:sp>
          <p:nvSpPr>
            <p:cNvPr id="7" name="TextBox 7"/>
            <p:cNvSpPr txBox="1"/>
            <p:nvPr/>
          </p:nvSpPr>
          <p:spPr>
            <a:xfrm>
              <a:off x="0" y="-9525"/>
              <a:ext cx="1069758" cy="857291"/>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8" name="Group 8"/>
          <p:cNvGrpSpPr/>
          <p:nvPr/>
        </p:nvGrpSpPr>
        <p:grpSpPr>
          <a:xfrm>
            <a:off x="6846060" y="7183107"/>
            <a:ext cx="4847298" cy="2732418"/>
            <a:chOff x="0" y="0"/>
            <a:chExt cx="6463064" cy="3643224"/>
          </a:xfrm>
        </p:grpSpPr>
        <p:sp>
          <p:nvSpPr>
            <p:cNvPr id="9" name="TextBox 9"/>
            <p:cNvSpPr txBox="1"/>
            <p:nvPr/>
          </p:nvSpPr>
          <p:spPr>
            <a:xfrm>
              <a:off x="0" y="1295840"/>
              <a:ext cx="6463064" cy="23473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4A5A6A"/>
                  </a:solidFill>
                  <a:latin typeface="Nyutro Sans"/>
                  <a:ea typeface="Nyutro Sans"/>
                  <a:cs typeface="Nyutro Sans"/>
                  <a:sym typeface="Nyutro Sans"/>
                </a:rPr>
                <a:t>R-squared Value </a:t>
              </a:r>
            </a:p>
            <a:p>
              <a:pPr marL="0" lvl="0" indent="0" algn="ctr">
                <a:lnSpc>
                  <a:spcPts val="3499"/>
                </a:lnSpc>
                <a:spcBef>
                  <a:spcPct val="0"/>
                </a:spcBef>
              </a:pPr>
              <a:r>
                <a:rPr lang="en-US" sz="2499" u="none" strike="noStrike">
                  <a:solidFill>
                    <a:srgbClr val="4A5A6A"/>
                  </a:solidFill>
                  <a:latin typeface="Nyutro Sans"/>
                  <a:ea typeface="Nyutro Sans"/>
                  <a:cs typeface="Nyutro Sans"/>
                  <a:sym typeface="Nyutro Sans"/>
                </a:rPr>
                <a:t>the model explains 96.7% of the relationship between hours and scores. Closer than 1  is the better</a:t>
              </a:r>
            </a:p>
          </p:txBody>
        </p:sp>
        <p:sp>
          <p:nvSpPr>
            <p:cNvPr id="10" name="TextBox 10"/>
            <p:cNvSpPr txBox="1"/>
            <p:nvPr/>
          </p:nvSpPr>
          <p:spPr>
            <a:xfrm>
              <a:off x="0" y="-19050"/>
              <a:ext cx="6463064" cy="1238250"/>
            </a:xfrm>
            <a:prstGeom prst="rect">
              <a:avLst/>
            </a:prstGeom>
          </p:spPr>
          <p:txBody>
            <a:bodyPr lIns="0" tIns="0" rIns="0" bIns="0" rtlCol="0" anchor="t">
              <a:spAutoFit/>
            </a:bodyPr>
            <a:lstStyle/>
            <a:p>
              <a:pPr marL="0" lvl="0" indent="0" algn="ctr">
                <a:lnSpc>
                  <a:spcPts val="6000"/>
                </a:lnSpc>
              </a:pPr>
              <a:r>
                <a:rPr lang="en-US" sz="6000" b="1">
                  <a:solidFill>
                    <a:srgbClr val="4A5A6A"/>
                  </a:solidFill>
                  <a:latin typeface="Nyutro Sans Bold"/>
                  <a:ea typeface="Nyutro Sans Bold"/>
                  <a:cs typeface="Nyutro Sans Bold"/>
                  <a:sym typeface="Nyutro Sans Bold"/>
                </a:rPr>
                <a:t>0.96</a:t>
              </a:r>
            </a:p>
          </p:txBody>
        </p:sp>
      </p:grpSp>
      <p:grpSp>
        <p:nvGrpSpPr>
          <p:cNvPr id="11" name="Group 11"/>
          <p:cNvGrpSpPr/>
          <p:nvPr/>
        </p:nvGrpSpPr>
        <p:grpSpPr>
          <a:xfrm>
            <a:off x="962952" y="7155998"/>
            <a:ext cx="4847298" cy="2294268"/>
            <a:chOff x="0" y="0"/>
            <a:chExt cx="6463064" cy="3059024"/>
          </a:xfrm>
        </p:grpSpPr>
        <p:sp>
          <p:nvSpPr>
            <p:cNvPr id="12" name="TextBox 12"/>
            <p:cNvSpPr txBox="1"/>
            <p:nvPr/>
          </p:nvSpPr>
          <p:spPr>
            <a:xfrm>
              <a:off x="0" y="1295840"/>
              <a:ext cx="6463064" cy="17631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4A5A6A"/>
                  </a:solidFill>
                  <a:latin typeface="Nyutro Sans"/>
                  <a:ea typeface="Nyutro Sans"/>
                  <a:cs typeface="Nyutro Sans"/>
                  <a:sym typeface="Nyutro Sans"/>
                </a:rPr>
                <a:t>Mean Squared Error (MSE) measures average prediction error lower is the better</a:t>
              </a:r>
            </a:p>
          </p:txBody>
        </p:sp>
        <p:sp>
          <p:nvSpPr>
            <p:cNvPr id="13" name="TextBox 13"/>
            <p:cNvSpPr txBox="1"/>
            <p:nvPr/>
          </p:nvSpPr>
          <p:spPr>
            <a:xfrm>
              <a:off x="0" y="-19050"/>
              <a:ext cx="6463064" cy="1238250"/>
            </a:xfrm>
            <a:prstGeom prst="rect">
              <a:avLst/>
            </a:prstGeom>
          </p:spPr>
          <p:txBody>
            <a:bodyPr lIns="0" tIns="0" rIns="0" bIns="0" rtlCol="0" anchor="t">
              <a:spAutoFit/>
            </a:bodyPr>
            <a:lstStyle/>
            <a:p>
              <a:pPr marL="0" lvl="0" indent="0" algn="ctr">
                <a:lnSpc>
                  <a:spcPts val="6000"/>
                </a:lnSpc>
              </a:pPr>
              <a:r>
                <a:rPr lang="en-US" sz="6000" b="1">
                  <a:solidFill>
                    <a:srgbClr val="4A5A6A"/>
                  </a:solidFill>
                  <a:latin typeface="Nyutro Sans Bold"/>
                  <a:ea typeface="Nyutro Sans Bold"/>
                  <a:cs typeface="Nyutro Sans Bold"/>
                  <a:sym typeface="Nyutro Sans Bold"/>
                </a:rPr>
                <a:t>18.94</a:t>
              </a:r>
            </a:p>
          </p:txBody>
        </p:sp>
      </p:grpSp>
      <p:sp>
        <p:nvSpPr>
          <p:cNvPr id="14" name="Freeform 14"/>
          <p:cNvSpPr/>
          <p:nvPr/>
        </p:nvSpPr>
        <p:spPr>
          <a:xfrm>
            <a:off x="2434947" y="6090972"/>
            <a:ext cx="1903307" cy="899745"/>
          </a:xfrm>
          <a:custGeom>
            <a:avLst/>
            <a:gdLst/>
            <a:ahLst/>
            <a:cxnLst/>
            <a:rect l="l" t="t" r="r" b="b"/>
            <a:pathLst>
              <a:path w="1903307" h="899745">
                <a:moveTo>
                  <a:pt x="0" y="0"/>
                </a:moveTo>
                <a:lnTo>
                  <a:pt x="1903308" y="0"/>
                </a:lnTo>
                <a:lnTo>
                  <a:pt x="1903308"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5" name="Freeform 15"/>
          <p:cNvSpPr/>
          <p:nvPr/>
        </p:nvSpPr>
        <p:spPr>
          <a:xfrm>
            <a:off x="8318056" y="6090972"/>
            <a:ext cx="1903307" cy="899745"/>
          </a:xfrm>
          <a:custGeom>
            <a:avLst/>
            <a:gdLst/>
            <a:ahLst/>
            <a:cxnLst/>
            <a:rect l="l" t="t" r="r" b="b"/>
            <a:pathLst>
              <a:path w="1903307" h="899745">
                <a:moveTo>
                  <a:pt x="0" y="0"/>
                </a:moveTo>
                <a:lnTo>
                  <a:pt x="1903307" y="0"/>
                </a:lnTo>
                <a:lnTo>
                  <a:pt x="1903307" y="899745"/>
                </a:lnTo>
                <a:lnTo>
                  <a:pt x="0" y="8997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a:off x="666750" y="666750"/>
            <a:ext cx="9763125" cy="1377950"/>
            <a:chOff x="0" y="0"/>
            <a:chExt cx="13017500" cy="1837267"/>
          </a:xfrm>
        </p:grpSpPr>
        <p:sp>
          <p:nvSpPr>
            <p:cNvPr id="17" name="TextBox 17"/>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Model Evaluation</a:t>
              </a:r>
            </a:p>
          </p:txBody>
        </p:sp>
        <p:sp>
          <p:nvSpPr>
            <p:cNvPr id="18" name="TextBox 18"/>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sp>
        <p:nvSpPr>
          <p:cNvPr id="19" name="TextBox 19"/>
          <p:cNvSpPr txBox="1"/>
          <p:nvPr/>
        </p:nvSpPr>
        <p:spPr>
          <a:xfrm>
            <a:off x="251419" y="1174750"/>
            <a:ext cx="9925407" cy="3266508"/>
          </a:xfrm>
          <a:prstGeom prst="rect">
            <a:avLst/>
          </a:prstGeom>
        </p:spPr>
        <p:txBody>
          <a:bodyPr lIns="0" tIns="0" rIns="0" bIns="0" rtlCol="0" anchor="t">
            <a:spAutoFit/>
          </a:bodyPr>
          <a:lstStyle/>
          <a:p>
            <a:pPr algn="l">
              <a:lnSpc>
                <a:spcPts val="6331"/>
              </a:lnSpc>
              <a:spcBef>
                <a:spcPct val="0"/>
              </a:spcBef>
            </a:pPr>
            <a:endParaRPr/>
          </a:p>
          <a:p>
            <a:pPr algn="l">
              <a:lnSpc>
                <a:spcPts val="6331"/>
              </a:lnSpc>
              <a:spcBef>
                <a:spcPct val="0"/>
              </a:spcBef>
            </a:pPr>
            <a:r>
              <a:rPr lang="en-US" sz="4522" u="none" strike="noStrike">
                <a:solidFill>
                  <a:srgbClr val="A0A0A0"/>
                </a:solidFill>
                <a:latin typeface="Nyutro Sans"/>
                <a:ea typeface="Nyutro Sans"/>
                <a:cs typeface="Nyutro Sans"/>
                <a:sym typeface="Nyutro Sans"/>
              </a:rPr>
              <a:t>   We used two metrics:</a:t>
            </a: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MSE (Mean Squared Error) = 18.94  </a:t>
            </a: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R² (R-squared) = 0.967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sp>
        <p:nvSpPr>
          <p:cNvPr id="2" name="Freeform 2"/>
          <p:cNvSpPr/>
          <p:nvPr/>
        </p:nvSpPr>
        <p:spPr>
          <a:xfrm>
            <a:off x="9525291" y="376439"/>
            <a:ext cx="8238977" cy="9077787"/>
          </a:xfrm>
          <a:custGeom>
            <a:avLst/>
            <a:gdLst/>
            <a:ahLst/>
            <a:cxnLst/>
            <a:rect l="l" t="t" r="r" b="b"/>
            <a:pathLst>
              <a:path w="8238977" h="9077787">
                <a:moveTo>
                  <a:pt x="0" y="0"/>
                </a:moveTo>
                <a:lnTo>
                  <a:pt x="8238977" y="0"/>
                </a:lnTo>
                <a:lnTo>
                  <a:pt x="8238977" y="9077787"/>
                </a:lnTo>
                <a:lnTo>
                  <a:pt x="0" y="9077787"/>
                </a:lnTo>
                <a:lnTo>
                  <a:pt x="0" y="0"/>
                </a:lnTo>
                <a:close/>
              </a:path>
            </a:pathLst>
          </a:custGeom>
          <a:blipFill>
            <a:blip r:embed="rId2"/>
            <a:stretch>
              <a:fillRect/>
            </a:stretch>
          </a:blipFill>
          <a:ln cap="sq">
            <a:noFill/>
            <a:prstDash val="solid"/>
            <a:miter/>
          </a:ln>
        </p:spPr>
      </p:sp>
      <p:sp>
        <p:nvSpPr>
          <p:cNvPr id="3" name="TextBox 3"/>
          <p:cNvSpPr txBox="1"/>
          <p:nvPr/>
        </p:nvSpPr>
        <p:spPr>
          <a:xfrm>
            <a:off x="335621" y="2412873"/>
            <a:ext cx="8808379" cy="4066608"/>
          </a:xfrm>
          <a:prstGeom prst="rect">
            <a:avLst/>
          </a:prstGeom>
        </p:spPr>
        <p:txBody>
          <a:bodyPr lIns="0" tIns="0" rIns="0" bIns="0" rtlCol="0" anchor="t">
            <a:spAutoFit/>
          </a:bodyPr>
          <a:lstStyle/>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Input = 6 study hours “manually “</a:t>
            </a:r>
          </a:p>
          <a:p>
            <a:pPr marL="976374" lvl="1" indent="-488187" algn="l">
              <a:lnSpc>
                <a:spcPts val="6331"/>
              </a:lnSpc>
              <a:spcBef>
                <a:spcPct val="0"/>
              </a:spcBef>
              <a:buFont typeface="Arial"/>
              <a:buChar char="•"/>
            </a:pPr>
            <a:r>
              <a:rPr lang="en-US" sz="4522" u="none" strike="noStrike">
                <a:solidFill>
                  <a:srgbClr val="A0A0A0"/>
                </a:solidFill>
                <a:latin typeface="Nyutro Sans"/>
                <a:ea typeface="Nyutro Sans"/>
                <a:cs typeface="Nyutro Sans"/>
                <a:sym typeface="Nyutro Sans"/>
              </a:rPr>
              <a:t>Predicted score = 9.78×6 + 2.48 ≈ 60.92</a:t>
            </a:r>
          </a:p>
          <a:p>
            <a:pPr algn="l">
              <a:lnSpc>
                <a:spcPts val="6331"/>
              </a:lnSpc>
              <a:spcBef>
                <a:spcPct val="0"/>
              </a:spcBef>
            </a:pPr>
            <a:endParaRPr lang="en-US" sz="4522" u="none" strike="noStrike">
              <a:solidFill>
                <a:srgbClr val="A0A0A0"/>
              </a:solidFill>
              <a:latin typeface="Nyutro Sans"/>
              <a:ea typeface="Nyutro Sans"/>
              <a:cs typeface="Nyutro Sans"/>
              <a:sym typeface="Nyutro Sans"/>
            </a:endParaRPr>
          </a:p>
        </p:txBody>
      </p:sp>
      <p:sp>
        <p:nvSpPr>
          <p:cNvPr id="4" name="TextBox 4"/>
          <p:cNvSpPr txBox="1"/>
          <p:nvPr/>
        </p:nvSpPr>
        <p:spPr>
          <a:xfrm>
            <a:off x="666750" y="466725"/>
            <a:ext cx="6886575" cy="958850"/>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Prediction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9763125" cy="1377950"/>
            <a:chOff x="0" y="0"/>
            <a:chExt cx="13017500" cy="1837267"/>
          </a:xfrm>
        </p:grpSpPr>
        <p:sp>
          <p:nvSpPr>
            <p:cNvPr id="3" name="TextBox 3"/>
            <p:cNvSpPr txBox="1"/>
            <p:nvPr/>
          </p:nvSpPr>
          <p:spPr>
            <a:xfrm>
              <a:off x="0" y="-200025"/>
              <a:ext cx="13017500" cy="1211792"/>
            </a:xfrm>
            <a:prstGeom prst="rect">
              <a:avLst/>
            </a:prstGeom>
          </p:spPr>
          <p:txBody>
            <a:bodyPr lIns="0" tIns="0" rIns="0" bIns="0" rtlCol="0" anchor="t">
              <a:spAutoFit/>
            </a:bodyPr>
            <a:lstStyle/>
            <a:p>
              <a:pPr marL="0" lvl="0" indent="0" algn="l">
                <a:lnSpc>
                  <a:spcPts val="7000"/>
                </a:lnSpc>
                <a:spcBef>
                  <a:spcPct val="0"/>
                </a:spcBef>
              </a:pPr>
              <a:r>
                <a:rPr lang="en-US" sz="5000" b="1">
                  <a:solidFill>
                    <a:srgbClr val="F8F8F8"/>
                  </a:solidFill>
                  <a:latin typeface="Nyutro Sans Bold"/>
                  <a:ea typeface="Nyutro Sans Bold"/>
                  <a:cs typeface="Nyutro Sans Bold"/>
                  <a:sym typeface="Nyutro Sans Bold"/>
                </a:rPr>
                <a:t>C</a:t>
              </a:r>
              <a:r>
                <a:rPr lang="en-US" sz="5000" b="1" u="none" strike="noStrike">
                  <a:solidFill>
                    <a:srgbClr val="F8F8F8"/>
                  </a:solidFill>
                  <a:latin typeface="Nyutro Sans Bold"/>
                  <a:ea typeface="Nyutro Sans Bold"/>
                  <a:cs typeface="Nyutro Sans Bold"/>
                  <a:sym typeface="Nyutro Sans Bold"/>
                </a:rPr>
                <a:t>hallenges </a:t>
              </a:r>
            </a:p>
          </p:txBody>
        </p:sp>
        <p:sp>
          <p:nvSpPr>
            <p:cNvPr id="4" name="TextBox 4"/>
            <p:cNvSpPr txBox="1"/>
            <p:nvPr/>
          </p:nvSpPr>
          <p:spPr>
            <a:xfrm>
              <a:off x="38100" y="1183217"/>
              <a:ext cx="12979400" cy="654050"/>
            </a:xfrm>
            <a:prstGeom prst="rect">
              <a:avLst/>
            </a:prstGeom>
          </p:spPr>
          <p:txBody>
            <a:bodyPr lIns="0" tIns="0" rIns="0" bIns="0" rtlCol="0" anchor="t">
              <a:spAutoFit/>
            </a:bodyPr>
            <a:lstStyle/>
            <a:p>
              <a:pPr marL="0" lvl="0" indent="0" algn="l">
                <a:lnSpc>
                  <a:spcPts val="3599"/>
                </a:lnSpc>
                <a:spcBef>
                  <a:spcPct val="0"/>
                </a:spcBef>
              </a:pPr>
              <a:endParaRPr/>
            </a:p>
          </p:txBody>
        </p:sp>
      </p:grpSp>
      <p:grpSp>
        <p:nvGrpSpPr>
          <p:cNvPr id="5" name="Group 5"/>
          <p:cNvGrpSpPr/>
          <p:nvPr/>
        </p:nvGrpSpPr>
        <p:grpSpPr>
          <a:xfrm>
            <a:off x="695325" y="6038850"/>
            <a:ext cx="6858000" cy="1187413"/>
            <a:chOff x="0" y="0"/>
            <a:chExt cx="9144000" cy="1583217"/>
          </a:xfrm>
        </p:grpSpPr>
        <p:sp>
          <p:nvSpPr>
            <p:cNvPr id="6" name="TextBox 6"/>
            <p:cNvSpPr txBox="1"/>
            <p:nvPr/>
          </p:nvSpPr>
          <p:spPr>
            <a:xfrm>
              <a:off x="0" y="988434"/>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7" name="TextBox 7"/>
            <p:cNvSpPr txBox="1"/>
            <p:nvPr/>
          </p:nvSpPr>
          <p:spPr>
            <a:xfrm>
              <a:off x="0" y="-95250"/>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grpSp>
      <p:grpSp>
        <p:nvGrpSpPr>
          <p:cNvPr id="8" name="Group 8"/>
          <p:cNvGrpSpPr/>
          <p:nvPr/>
        </p:nvGrpSpPr>
        <p:grpSpPr>
          <a:xfrm>
            <a:off x="7858125" y="6038850"/>
            <a:ext cx="6858000" cy="1260438"/>
            <a:chOff x="0" y="0"/>
            <a:chExt cx="9144000" cy="1680584"/>
          </a:xfrm>
        </p:grpSpPr>
        <p:sp>
          <p:nvSpPr>
            <p:cNvPr id="9" name="TextBox 9"/>
            <p:cNvSpPr txBox="1"/>
            <p:nvPr/>
          </p:nvSpPr>
          <p:spPr>
            <a:xfrm>
              <a:off x="0" y="1085800"/>
              <a:ext cx="9144000" cy="594783"/>
            </a:xfrm>
            <a:prstGeom prst="rect">
              <a:avLst/>
            </a:prstGeom>
          </p:spPr>
          <p:txBody>
            <a:bodyPr lIns="0" tIns="0" rIns="0" bIns="0" rtlCol="0" anchor="t">
              <a:spAutoFit/>
            </a:bodyPr>
            <a:lstStyle/>
            <a:p>
              <a:pPr marL="0" lvl="0" indent="0" algn="l">
                <a:lnSpc>
                  <a:spcPts val="3499"/>
                </a:lnSpc>
                <a:spcBef>
                  <a:spcPct val="0"/>
                </a:spcBef>
              </a:pPr>
              <a:endParaRPr/>
            </a:p>
          </p:txBody>
        </p:sp>
        <p:sp>
          <p:nvSpPr>
            <p:cNvPr id="10" name="TextBox 10"/>
            <p:cNvSpPr txBox="1"/>
            <p:nvPr/>
          </p:nvSpPr>
          <p:spPr>
            <a:xfrm>
              <a:off x="0" y="-57150"/>
              <a:ext cx="9144000" cy="654050"/>
            </a:xfrm>
            <a:prstGeom prst="rect">
              <a:avLst/>
            </a:prstGeom>
          </p:spPr>
          <p:txBody>
            <a:bodyPr lIns="0" tIns="0" rIns="0" bIns="0" rtlCol="0" anchor="t">
              <a:spAutoFit/>
            </a:bodyPr>
            <a:lstStyle/>
            <a:p>
              <a:pPr marL="0" lvl="0" indent="0" algn="l">
                <a:lnSpc>
                  <a:spcPts val="3599"/>
                </a:lnSpc>
                <a:spcBef>
                  <a:spcPct val="0"/>
                </a:spcBef>
              </a:pPr>
              <a:endParaRPr/>
            </a:p>
          </p:txBody>
        </p:sp>
      </p:grpSp>
      <p:sp>
        <p:nvSpPr>
          <p:cNvPr id="11" name="TextBox 11"/>
          <p:cNvSpPr txBox="1"/>
          <p:nvPr/>
        </p:nvSpPr>
        <p:spPr>
          <a:xfrm>
            <a:off x="336232" y="2476500"/>
            <a:ext cx="17951768" cy="4866708"/>
          </a:xfrm>
          <a:prstGeom prst="rect">
            <a:avLst/>
          </a:prstGeom>
        </p:spPr>
        <p:txBody>
          <a:bodyPr lIns="0" tIns="0" rIns="0" bIns="0" rtlCol="0" anchor="t">
            <a:spAutoFit/>
          </a:bodyPr>
          <a:lstStyle/>
          <a:p>
            <a:pPr marL="976374" lvl="1" indent="-488187" algn="l">
              <a:lnSpc>
                <a:spcPts val="6331"/>
              </a:lnSpc>
              <a:buFont typeface="Arial"/>
              <a:buChar char="•"/>
            </a:pPr>
            <a:r>
              <a:rPr lang="en-US" sz="4522">
                <a:solidFill>
                  <a:srgbClr val="A0A0A0"/>
                </a:solidFill>
                <a:latin typeface="Nyutro Sans"/>
                <a:ea typeface="Nyutro Sans"/>
                <a:cs typeface="Nyutro Sans"/>
                <a:sym typeface="Nyutro Sans"/>
              </a:rPr>
              <a:t>Smal</a:t>
            </a:r>
            <a:r>
              <a:rPr lang="en-US" sz="4522" u="none" strike="noStrike">
                <a:solidFill>
                  <a:srgbClr val="A0A0A0"/>
                </a:solidFill>
                <a:latin typeface="Nyutro Sans"/>
                <a:ea typeface="Nyutro Sans"/>
                <a:cs typeface="Nyutro Sans"/>
                <a:sym typeface="Nyutro Sans"/>
              </a:rPr>
              <a:t>l dataset (only 25 records).</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Simple model (only one feature).</a:t>
            </a:r>
          </a:p>
          <a:p>
            <a:pPr marL="976374" lvl="1" indent="-488187" algn="l">
              <a:lnSpc>
                <a:spcPts val="6331"/>
              </a:lnSpc>
              <a:buFont typeface="Arial"/>
              <a:buChar char="•"/>
            </a:pPr>
            <a:r>
              <a:rPr lang="en-US" sz="4522" u="none" strike="noStrike">
                <a:solidFill>
                  <a:srgbClr val="A0A0A0"/>
                </a:solidFill>
                <a:latin typeface="Nyutro Sans"/>
                <a:ea typeface="Nyutro Sans"/>
                <a:cs typeface="Nyutro Sans"/>
                <a:sym typeface="Nyutro Sans"/>
              </a:rPr>
              <a:t>Real-life data may include other factors like attendance, sleep, or stress.</a:t>
            </a:r>
          </a:p>
          <a:p>
            <a:pPr algn="l">
              <a:lnSpc>
                <a:spcPts val="6331"/>
              </a:lnSpc>
            </a:pPr>
            <a:endParaRPr lang="en-US" sz="4522" u="none" strike="noStrike">
              <a:solidFill>
                <a:srgbClr val="A0A0A0"/>
              </a:solidFill>
              <a:latin typeface="Nyutro Sans"/>
              <a:ea typeface="Nyutro Sans"/>
              <a:cs typeface="Nyutro Sans"/>
              <a:sym typeface="Nyutro Sans"/>
            </a:endParaRPr>
          </a:p>
          <a:p>
            <a:pPr algn="l">
              <a:lnSpc>
                <a:spcPts val="6331"/>
              </a:lnSpc>
            </a:pPr>
            <a:endParaRPr lang="en-US" sz="4522" u="none" strike="noStrike">
              <a:solidFill>
                <a:srgbClr val="A0A0A0"/>
              </a:solidFill>
              <a:latin typeface="Nyutro Sans"/>
              <a:ea typeface="Nyutro Sans"/>
              <a:cs typeface="Nyutro Sans"/>
              <a:sym typeface="Nyutr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sp>
        <p:nvSpPr>
          <p:cNvPr id="2" name="TextBox 2"/>
          <p:cNvSpPr txBox="1"/>
          <p:nvPr/>
        </p:nvSpPr>
        <p:spPr>
          <a:xfrm>
            <a:off x="2502396" y="5940287"/>
            <a:ext cx="5448300" cy="1346200"/>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F8F8F8"/>
                </a:solidFill>
                <a:latin typeface="Nyutro Sans"/>
                <a:ea typeface="Nyutro Sans"/>
                <a:cs typeface="Nyutro Sans"/>
                <a:sym typeface="Nyutro Sans"/>
              </a:rPr>
              <a:t>This project demonstrates the power of Machine Learning in education</a:t>
            </a:r>
          </a:p>
          <a:p>
            <a:pPr marL="0" lvl="0" indent="0" algn="ctr">
              <a:lnSpc>
                <a:spcPts val="3499"/>
              </a:lnSpc>
              <a:spcBef>
                <a:spcPct val="0"/>
              </a:spcBef>
            </a:pPr>
            <a:endParaRPr lang="en-US" sz="2499" u="none" strike="noStrike">
              <a:solidFill>
                <a:srgbClr val="F8F8F8"/>
              </a:solidFill>
              <a:latin typeface="Nyutro Sans"/>
              <a:ea typeface="Nyutro Sans"/>
              <a:cs typeface="Nyutro Sans"/>
              <a:sym typeface="Nyutro Sans"/>
            </a:endParaRPr>
          </a:p>
        </p:txBody>
      </p:sp>
      <p:sp>
        <p:nvSpPr>
          <p:cNvPr id="3" name="TextBox 3"/>
          <p:cNvSpPr txBox="1"/>
          <p:nvPr/>
        </p:nvSpPr>
        <p:spPr>
          <a:xfrm>
            <a:off x="10281890" y="5940287"/>
            <a:ext cx="5448300" cy="2222500"/>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F8F8F8"/>
                </a:solidFill>
                <a:latin typeface="Nyutro Sans"/>
                <a:ea typeface="Nyutro Sans"/>
                <a:cs typeface="Nyutro Sans"/>
                <a:sym typeface="Nyutro Sans"/>
              </a:rPr>
              <a:t>It pr</a:t>
            </a:r>
            <a:r>
              <a:rPr lang="en-US" sz="2499" u="none" strike="noStrike">
                <a:solidFill>
                  <a:srgbClr val="F8F8F8"/>
                </a:solidFill>
                <a:latin typeface="Nyutro Sans"/>
                <a:ea typeface="Nyutro Sans"/>
                <a:cs typeface="Nyutro Sans"/>
                <a:sym typeface="Nyutro Sans"/>
              </a:rPr>
              <a:t>ovides valuable insights into how study time affects student performance. </a:t>
            </a:r>
          </a:p>
          <a:p>
            <a:pPr marL="0" lvl="0" indent="0" algn="ctr">
              <a:lnSpc>
                <a:spcPts val="3499"/>
              </a:lnSpc>
              <a:spcBef>
                <a:spcPct val="0"/>
              </a:spcBef>
            </a:pPr>
            <a:r>
              <a:rPr lang="en-US" sz="2499" u="none" strike="noStrike">
                <a:solidFill>
                  <a:srgbClr val="F8F8F8"/>
                </a:solidFill>
                <a:latin typeface="Nyutro Sans"/>
                <a:ea typeface="Nyutro Sans"/>
                <a:cs typeface="Nyutro Sans"/>
                <a:sym typeface="Nyutro Sans"/>
              </a:rPr>
              <a:t>More study hours → Higher score</a:t>
            </a:r>
          </a:p>
          <a:p>
            <a:pPr marL="0" lvl="0" indent="0" algn="ctr">
              <a:lnSpc>
                <a:spcPts val="3499"/>
              </a:lnSpc>
              <a:spcBef>
                <a:spcPct val="0"/>
              </a:spcBef>
            </a:pPr>
            <a:endParaRPr lang="en-US" sz="2499" u="none" strike="noStrike">
              <a:solidFill>
                <a:srgbClr val="F8F8F8"/>
              </a:solidFill>
              <a:latin typeface="Nyutro Sans"/>
              <a:ea typeface="Nyutro Sans"/>
              <a:cs typeface="Nyutro Sans"/>
              <a:sym typeface="Nyutro Sans"/>
            </a:endParaRPr>
          </a:p>
        </p:txBody>
      </p:sp>
      <p:sp>
        <p:nvSpPr>
          <p:cNvPr id="4" name="TextBox 4"/>
          <p:cNvSpPr txBox="1"/>
          <p:nvPr/>
        </p:nvSpPr>
        <p:spPr>
          <a:xfrm>
            <a:off x="1486917" y="677741"/>
            <a:ext cx="14077950" cy="2730500"/>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F8F8F8"/>
                </a:solidFill>
                <a:latin typeface="Nyutro Sans Bold"/>
                <a:ea typeface="Nyutro Sans Bold"/>
                <a:cs typeface="Nyutro Sans Bold"/>
                <a:sym typeface="Nyutro Sans Bold"/>
              </a:rPr>
              <a:t>Conclusion </a:t>
            </a:r>
          </a:p>
          <a:p>
            <a:pPr marL="0" lvl="0" indent="0" algn="l">
              <a:lnSpc>
                <a:spcPts val="7000"/>
              </a:lnSpc>
              <a:spcBef>
                <a:spcPct val="0"/>
              </a:spcBef>
            </a:pPr>
            <a:endParaRPr lang="en-US" sz="5000" b="1" u="none" strike="noStrike">
              <a:solidFill>
                <a:srgbClr val="F8F8F8"/>
              </a:solidFill>
              <a:latin typeface="Nyutro Sans Bold"/>
              <a:ea typeface="Nyutro Sans Bold"/>
              <a:cs typeface="Nyutro Sans Bold"/>
              <a:sym typeface="Nyutro Sans Bold"/>
            </a:endParaRPr>
          </a:p>
          <a:p>
            <a:pPr marL="0" lvl="0" indent="0" algn="l">
              <a:lnSpc>
                <a:spcPts val="7000"/>
              </a:lnSpc>
              <a:spcBef>
                <a:spcPct val="0"/>
              </a:spcBef>
            </a:pPr>
            <a:endParaRPr lang="en-US" sz="5000" b="1" u="none" strike="noStrike">
              <a:solidFill>
                <a:srgbClr val="F8F8F8"/>
              </a:solidFill>
              <a:latin typeface="Nyutro Sans Bold"/>
              <a:ea typeface="Nyutro Sans Bold"/>
              <a:cs typeface="Nyutro Sans Bold"/>
              <a:sym typeface="Nyutro Sans Bold"/>
            </a:endParaRPr>
          </a:p>
        </p:txBody>
      </p:sp>
      <p:sp>
        <p:nvSpPr>
          <p:cNvPr id="5" name="Freeform 5"/>
          <p:cNvSpPr/>
          <p:nvPr/>
        </p:nvSpPr>
        <p:spPr>
          <a:xfrm>
            <a:off x="4498722" y="46936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6" name="Freeform 6"/>
          <p:cNvSpPr/>
          <p:nvPr/>
        </p:nvSpPr>
        <p:spPr>
          <a:xfrm>
            <a:off x="12054387" y="469362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rot="3044453">
            <a:off x="2274802" y="2975084"/>
            <a:ext cx="3066596" cy="866314"/>
          </a:xfrm>
          <a:custGeom>
            <a:avLst/>
            <a:gdLst/>
            <a:ahLst/>
            <a:cxnLst/>
            <a:rect l="l" t="t" r="r" b="b"/>
            <a:pathLst>
              <a:path w="3066596" h="866314">
                <a:moveTo>
                  <a:pt x="0" y="0"/>
                </a:moveTo>
                <a:lnTo>
                  <a:pt x="3066596" y="0"/>
                </a:lnTo>
                <a:lnTo>
                  <a:pt x="3066596" y="866314"/>
                </a:lnTo>
                <a:lnTo>
                  <a:pt x="0" y="866314"/>
                </a:lnTo>
                <a:lnTo>
                  <a:pt x="0" y="0"/>
                </a:lnTo>
                <a:close/>
              </a:path>
            </a:pathLst>
          </a:custGeom>
          <a:blipFill>
            <a:blip r:embed="rId4">
              <a:extLst>
                <a:ext uri="{96DAC541-7B7A-43D3-8B79-37D633B846F1}">
                  <asvg:svgBlip xmlns:asvg="http://schemas.microsoft.com/office/drawing/2016/SVG/main" r:embed="rId5"/>
                </a:ext>
              </a:extLst>
            </a:blip>
            <a:stretch>
              <a:fillRect t="-764" b="-764"/>
            </a:stretch>
          </a:blipFill>
          <a:ln cap="sq">
            <a:noFill/>
            <a:prstDash val="solid"/>
            <a:miter/>
          </a:ln>
        </p:spPr>
      </p:sp>
      <p:sp>
        <p:nvSpPr>
          <p:cNvPr id="8" name="Freeform 8"/>
          <p:cNvSpPr/>
          <p:nvPr/>
        </p:nvSpPr>
        <p:spPr>
          <a:xfrm rot="3044453">
            <a:off x="10056854" y="2820427"/>
            <a:ext cx="3032132" cy="856578"/>
          </a:xfrm>
          <a:custGeom>
            <a:avLst/>
            <a:gdLst/>
            <a:ahLst/>
            <a:cxnLst/>
            <a:rect l="l" t="t" r="r" b="b"/>
            <a:pathLst>
              <a:path w="3032132" h="856578">
                <a:moveTo>
                  <a:pt x="0" y="0"/>
                </a:moveTo>
                <a:lnTo>
                  <a:pt x="3032133" y="0"/>
                </a:lnTo>
                <a:lnTo>
                  <a:pt x="3032133" y="856578"/>
                </a:lnTo>
                <a:lnTo>
                  <a:pt x="0" y="856578"/>
                </a:lnTo>
                <a:lnTo>
                  <a:pt x="0" y="0"/>
                </a:lnTo>
                <a:close/>
              </a:path>
            </a:pathLst>
          </a:custGeom>
          <a:blipFill>
            <a:blip r:embed="rId4">
              <a:extLst>
                <a:ext uri="{96DAC541-7B7A-43D3-8B79-37D633B846F1}">
                  <asvg:svgBlip xmlns:asvg="http://schemas.microsoft.com/office/drawing/2016/SVG/main" r:embed="rId5"/>
                </a:ext>
              </a:extLst>
            </a:blip>
            <a:stretch>
              <a:fillRect t="-764" b="-764"/>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A5A6A"/>
        </a:solidFill>
        <a:effectLst/>
      </p:bgPr>
    </p:bg>
    <p:spTree>
      <p:nvGrpSpPr>
        <p:cNvPr id="1" name=""/>
        <p:cNvGrpSpPr/>
        <p:nvPr/>
      </p:nvGrpSpPr>
      <p:grpSpPr>
        <a:xfrm>
          <a:off x="0" y="0"/>
          <a:ext cx="0" cy="0"/>
          <a:chOff x="0" y="0"/>
          <a:chExt cx="0" cy="0"/>
        </a:xfrm>
      </p:grpSpPr>
      <p:grpSp>
        <p:nvGrpSpPr>
          <p:cNvPr id="2" name="Group 2"/>
          <p:cNvGrpSpPr/>
          <p:nvPr/>
        </p:nvGrpSpPr>
        <p:grpSpPr>
          <a:xfrm>
            <a:off x="-617773" y="6934200"/>
            <a:ext cx="19247032" cy="4815863"/>
            <a:chOff x="0" y="0"/>
            <a:chExt cx="5069177" cy="1268376"/>
          </a:xfrm>
        </p:grpSpPr>
        <p:sp>
          <p:nvSpPr>
            <p:cNvPr id="3" name="Freeform 3"/>
            <p:cNvSpPr/>
            <p:nvPr/>
          </p:nvSpPr>
          <p:spPr>
            <a:xfrm>
              <a:off x="0" y="0"/>
              <a:ext cx="5069177" cy="1268375"/>
            </a:xfrm>
            <a:custGeom>
              <a:avLst/>
              <a:gdLst/>
              <a:ahLst/>
              <a:cxnLst/>
              <a:rect l="l" t="t" r="r" b="b"/>
              <a:pathLst>
                <a:path w="5069177" h="1268375">
                  <a:moveTo>
                    <a:pt x="0" y="0"/>
                  </a:moveTo>
                  <a:lnTo>
                    <a:pt x="5069177" y="0"/>
                  </a:lnTo>
                  <a:lnTo>
                    <a:pt x="5069177" y="1268375"/>
                  </a:lnTo>
                  <a:lnTo>
                    <a:pt x="0" y="1268375"/>
                  </a:lnTo>
                  <a:close/>
                </a:path>
              </a:pathLst>
            </a:custGeom>
            <a:solidFill>
              <a:srgbClr val="001F3F"/>
            </a:solidFill>
          </p:spPr>
        </p:sp>
        <p:sp>
          <p:nvSpPr>
            <p:cNvPr id="4" name="TextBox 4"/>
            <p:cNvSpPr txBox="1"/>
            <p:nvPr/>
          </p:nvSpPr>
          <p:spPr>
            <a:xfrm>
              <a:off x="0" y="-9525"/>
              <a:ext cx="5069177" cy="1277901"/>
            </a:xfrm>
            <a:prstGeom prst="rect">
              <a:avLst/>
            </a:prstGeom>
          </p:spPr>
          <p:txBody>
            <a:bodyPr lIns="50800" tIns="50800" rIns="50800" bIns="50800" rtlCol="0" anchor="ctr"/>
            <a:lstStyle/>
            <a:p>
              <a:pPr marL="0" lvl="0" indent="0" algn="ctr">
                <a:lnSpc>
                  <a:spcPts val="2524"/>
                </a:lnSpc>
              </a:pPr>
              <a:endParaRPr/>
            </a:p>
          </p:txBody>
        </p:sp>
      </p:grpSp>
      <p:grpSp>
        <p:nvGrpSpPr>
          <p:cNvPr id="5" name="Group 5"/>
          <p:cNvGrpSpPr/>
          <p:nvPr/>
        </p:nvGrpSpPr>
        <p:grpSpPr>
          <a:xfrm>
            <a:off x="666750" y="7829550"/>
            <a:ext cx="4010025" cy="1342725"/>
            <a:chOff x="0" y="0"/>
            <a:chExt cx="5346700" cy="1790300"/>
          </a:xfrm>
        </p:grpSpPr>
        <p:sp>
          <p:nvSpPr>
            <p:cNvPr id="6" name="TextBox 6"/>
            <p:cNvSpPr txBox="1"/>
            <p:nvPr/>
          </p:nvSpPr>
          <p:spPr>
            <a:xfrm>
              <a:off x="0" y="611316"/>
              <a:ext cx="5346700" cy="1178983"/>
            </a:xfrm>
            <a:prstGeom prst="rect">
              <a:avLst/>
            </a:prstGeom>
          </p:spPr>
          <p:txBody>
            <a:bodyPr lIns="0" tIns="0" rIns="0" bIns="0" rtlCol="0" anchor="t">
              <a:spAutoFit/>
            </a:bodyPr>
            <a:lstStyle/>
            <a:p>
              <a:pPr marL="0" lvl="0" indent="0" algn="l">
                <a:lnSpc>
                  <a:spcPts val="3499"/>
                </a:lnSpc>
                <a:spcBef>
                  <a:spcPct val="0"/>
                </a:spcBef>
              </a:pPr>
              <a:r>
                <a:rPr lang="en-US" sz="2499" b="1" u="none" strike="noStrike">
                  <a:solidFill>
                    <a:srgbClr val="F8F8F8"/>
                  </a:solidFill>
                  <a:latin typeface="Nyutro Sans Bold"/>
                  <a:ea typeface="Nyutro Sans Bold"/>
                  <a:cs typeface="Nyutro Sans Bold"/>
                  <a:sym typeface="Nyutro Sans Bold"/>
                </a:rPr>
                <a:t>ranaawad20199@gmail.com</a:t>
              </a:r>
            </a:p>
            <a:p>
              <a:pPr marL="0" lvl="0" indent="0" algn="l">
                <a:lnSpc>
                  <a:spcPts val="3499"/>
                </a:lnSpc>
                <a:spcBef>
                  <a:spcPct val="0"/>
                </a:spcBef>
              </a:pPr>
              <a:endParaRPr lang="en-US" sz="2499" b="1" u="none" strike="noStrike">
                <a:solidFill>
                  <a:srgbClr val="F8F8F8"/>
                </a:solidFill>
                <a:latin typeface="Nyutro Sans Bold"/>
                <a:ea typeface="Nyutro Sans Bold"/>
                <a:cs typeface="Nyutro Sans Bold"/>
                <a:sym typeface="Nyutro Sans Bold"/>
              </a:endParaRPr>
            </a:p>
          </p:txBody>
        </p:sp>
        <p:sp>
          <p:nvSpPr>
            <p:cNvPr id="7" name="TextBox 7"/>
            <p:cNvSpPr txBox="1"/>
            <p:nvPr/>
          </p:nvSpPr>
          <p:spPr>
            <a:xfrm>
              <a:off x="0" y="-95250"/>
              <a:ext cx="5346700" cy="594783"/>
            </a:xfrm>
            <a:prstGeom prst="rect">
              <a:avLst/>
            </a:prstGeom>
          </p:spPr>
          <p:txBody>
            <a:bodyPr lIns="0" tIns="0" rIns="0" bIns="0" rtlCol="0" anchor="t">
              <a:spAutoFit/>
            </a:bodyPr>
            <a:lstStyle/>
            <a:p>
              <a:pPr marL="0" lvl="0" indent="0" algn="l">
                <a:lnSpc>
                  <a:spcPts val="3499"/>
                </a:lnSpc>
              </a:pPr>
              <a:r>
                <a:rPr lang="en-US" sz="2499" b="1">
                  <a:solidFill>
                    <a:srgbClr val="F8F8F8"/>
                  </a:solidFill>
                  <a:latin typeface="Nyutro Sans Bold"/>
                  <a:ea typeface="Nyutro Sans Bold"/>
                  <a:cs typeface="Nyutro Sans Bold"/>
                  <a:sym typeface="Nyutro Sans Bold"/>
                </a:rPr>
                <a:t>Email</a:t>
              </a:r>
            </a:p>
          </p:txBody>
        </p:sp>
      </p:grpSp>
      <p:grpSp>
        <p:nvGrpSpPr>
          <p:cNvPr id="8" name="Group 8"/>
          <p:cNvGrpSpPr/>
          <p:nvPr/>
        </p:nvGrpSpPr>
        <p:grpSpPr>
          <a:xfrm>
            <a:off x="6107415" y="7829550"/>
            <a:ext cx="7418343" cy="872856"/>
            <a:chOff x="0" y="0"/>
            <a:chExt cx="9891124" cy="1163808"/>
          </a:xfrm>
        </p:grpSpPr>
        <p:sp>
          <p:nvSpPr>
            <p:cNvPr id="9" name="TextBox 9"/>
            <p:cNvSpPr txBox="1"/>
            <p:nvPr/>
          </p:nvSpPr>
          <p:spPr>
            <a:xfrm>
              <a:off x="0" y="562287"/>
              <a:ext cx="9891124" cy="601521"/>
            </a:xfrm>
            <a:prstGeom prst="rect">
              <a:avLst/>
            </a:prstGeom>
          </p:spPr>
          <p:txBody>
            <a:bodyPr lIns="0" tIns="0" rIns="0" bIns="0" rtlCol="0" anchor="t">
              <a:spAutoFit/>
            </a:bodyPr>
            <a:lstStyle/>
            <a:p>
              <a:pPr marL="0" lvl="0" indent="0" algn="l">
                <a:lnSpc>
                  <a:spcPts val="3499"/>
                </a:lnSpc>
                <a:spcBef>
                  <a:spcPct val="0"/>
                </a:spcBef>
              </a:pPr>
              <a:r>
                <a:rPr lang="en-US" sz="2499" b="1" u="none" strike="noStrike">
                  <a:solidFill>
                    <a:srgbClr val="F8F8F8"/>
                  </a:solidFill>
                  <a:latin typeface="Nyutro Sans Bold"/>
                  <a:ea typeface="Nyutro Sans Bold"/>
                  <a:cs typeface="Nyutro Sans Bold"/>
                  <a:sym typeface="Nyutro Sans Bold"/>
                </a:rPr>
                <a:t>https://github.com/ranaawad2011/Python-script</a:t>
              </a:r>
            </a:p>
          </p:txBody>
        </p:sp>
        <p:sp>
          <p:nvSpPr>
            <p:cNvPr id="10" name="TextBox 10"/>
            <p:cNvSpPr txBox="1"/>
            <p:nvPr/>
          </p:nvSpPr>
          <p:spPr>
            <a:xfrm>
              <a:off x="0" y="-95250"/>
              <a:ext cx="9891124" cy="560121"/>
            </a:xfrm>
            <a:prstGeom prst="rect">
              <a:avLst/>
            </a:prstGeom>
          </p:spPr>
          <p:txBody>
            <a:bodyPr lIns="0" tIns="0" rIns="0" bIns="0" rtlCol="0" anchor="t">
              <a:spAutoFit/>
            </a:bodyPr>
            <a:lstStyle/>
            <a:p>
              <a:pPr marL="0" lvl="0" indent="0" algn="l">
                <a:lnSpc>
                  <a:spcPts val="3257"/>
                </a:lnSpc>
                <a:spcBef>
                  <a:spcPct val="0"/>
                </a:spcBef>
              </a:pPr>
              <a:r>
                <a:rPr lang="en-US" sz="2326" b="1" u="none" strike="noStrike">
                  <a:solidFill>
                    <a:srgbClr val="F8F8F8"/>
                  </a:solidFill>
                  <a:latin typeface="Nyutro Sans Bold"/>
                  <a:ea typeface="Nyutro Sans Bold"/>
                  <a:cs typeface="Nyutro Sans Bold"/>
                  <a:sym typeface="Nyutro Sans Bold"/>
                </a:rPr>
                <a:t>Github</a:t>
              </a:r>
            </a:p>
          </p:txBody>
        </p:sp>
      </p:grpSp>
      <p:grpSp>
        <p:nvGrpSpPr>
          <p:cNvPr id="11" name="Group 11"/>
          <p:cNvGrpSpPr/>
          <p:nvPr/>
        </p:nvGrpSpPr>
        <p:grpSpPr>
          <a:xfrm>
            <a:off x="9296400" y="7829550"/>
            <a:ext cx="4010025" cy="904575"/>
            <a:chOff x="0" y="0"/>
            <a:chExt cx="5346700" cy="1206100"/>
          </a:xfrm>
        </p:grpSpPr>
        <p:sp>
          <p:nvSpPr>
            <p:cNvPr id="12" name="TextBox 12"/>
            <p:cNvSpPr txBox="1"/>
            <p:nvPr/>
          </p:nvSpPr>
          <p:spPr>
            <a:xfrm>
              <a:off x="0" y="611316"/>
              <a:ext cx="5346700" cy="594783"/>
            </a:xfrm>
            <a:prstGeom prst="rect">
              <a:avLst/>
            </a:prstGeom>
          </p:spPr>
          <p:txBody>
            <a:bodyPr lIns="0" tIns="0" rIns="0" bIns="0" rtlCol="0" anchor="t">
              <a:spAutoFit/>
            </a:bodyPr>
            <a:lstStyle/>
            <a:p>
              <a:pPr marL="0" lvl="0" indent="0" algn="l">
                <a:lnSpc>
                  <a:spcPts val="3499"/>
                </a:lnSpc>
              </a:pPr>
              <a:endParaRPr/>
            </a:p>
          </p:txBody>
        </p:sp>
        <p:sp>
          <p:nvSpPr>
            <p:cNvPr id="13" name="TextBox 13"/>
            <p:cNvSpPr txBox="1"/>
            <p:nvPr/>
          </p:nvSpPr>
          <p:spPr>
            <a:xfrm>
              <a:off x="0" y="-95250"/>
              <a:ext cx="5346700" cy="594783"/>
            </a:xfrm>
            <a:prstGeom prst="rect">
              <a:avLst/>
            </a:prstGeom>
          </p:spPr>
          <p:txBody>
            <a:bodyPr lIns="0" tIns="0" rIns="0" bIns="0" rtlCol="0" anchor="t">
              <a:spAutoFit/>
            </a:bodyPr>
            <a:lstStyle/>
            <a:p>
              <a:pPr marL="0" lvl="0" indent="0" algn="l">
                <a:lnSpc>
                  <a:spcPts val="3499"/>
                </a:lnSpc>
                <a:spcBef>
                  <a:spcPct val="0"/>
                </a:spcBef>
              </a:pPr>
              <a:endParaRPr/>
            </a:p>
          </p:txBody>
        </p:sp>
      </p:grpSp>
      <p:sp>
        <p:nvSpPr>
          <p:cNvPr id="14" name="TextBox 14"/>
          <p:cNvSpPr txBox="1"/>
          <p:nvPr/>
        </p:nvSpPr>
        <p:spPr>
          <a:xfrm>
            <a:off x="666750" y="742950"/>
            <a:ext cx="14077950" cy="2324100"/>
          </a:xfrm>
          <a:prstGeom prst="rect">
            <a:avLst/>
          </a:prstGeom>
        </p:spPr>
        <p:txBody>
          <a:bodyPr lIns="0" tIns="0" rIns="0" bIns="0" rtlCol="0" anchor="t">
            <a:spAutoFit/>
          </a:bodyPr>
          <a:lstStyle/>
          <a:p>
            <a:pPr marL="0" lvl="0" indent="0" algn="l">
              <a:lnSpc>
                <a:spcPts val="8100"/>
              </a:lnSpc>
              <a:spcBef>
                <a:spcPct val="0"/>
              </a:spcBef>
            </a:pPr>
            <a:r>
              <a:rPr lang="en-US" sz="9000" b="1" u="none" strike="noStrike" spc="-89">
                <a:solidFill>
                  <a:srgbClr val="F8F8F8"/>
                </a:solidFill>
                <a:latin typeface="Nyutro Sans Heavy"/>
                <a:ea typeface="Nyutro Sans Heavy"/>
                <a:cs typeface="Nyutro Sans Heavy"/>
                <a:sym typeface="Nyutro Sans Heavy"/>
              </a:rPr>
              <a:t>Thank You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484</Words>
  <Application>Microsoft Office PowerPoint</Application>
  <PresentationFormat>Custom</PresentationFormat>
  <Paragraphs>77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Nyutro Sans Bold</vt:lpstr>
      <vt:lpstr>Nyutro Sans</vt:lpstr>
      <vt:lpstr>Public Sans Bold</vt:lpstr>
      <vt:lpstr>Nyutro Sans Heavy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Student Score Prediction</dc:title>
  <dc:creator>Rana</dc:creator>
  <dc:description>Presentation - Student Score Prediction</dc:description>
  <cp:lastModifiedBy>rana awad</cp:lastModifiedBy>
  <cp:revision>3</cp:revision>
  <dcterms:created xsi:type="dcterms:W3CDTF">2006-08-16T00:00:00Z</dcterms:created>
  <dcterms:modified xsi:type="dcterms:W3CDTF">2025-11-13T05:07:56Z</dcterms:modified>
  <dc:identifier>DAG4cxi5gnw</dc:identifier>
</cp:coreProperties>
</file>